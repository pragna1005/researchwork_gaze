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In this talk I'll explain what I found in the project I inherited, what I fixed, the two experiments I ran, and what I propose next. Short version: the old model's accuracy was not valid, but after fixing the data and evaluating honestly, eye movements alone still detect confusion clearly above chance on texts the model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talk on one slide. First I reproduced the existing system to make sure I understood it and that it</a:t>
            </a:r>
          </a:p>
          <a:p>
            <a:r>
              <a:t>runs on our lab PC. Then I audited the data and the old model, and found why its accuracy cannot be trusted. Third, I</a:t>
            </a:r>
          </a:p>
          <a:p>
            <a:r>
              <a:t>fixed bugs in how eye movements were measured. Fourth, I ran the two experiments the handover document asked for:</a:t>
            </a:r>
          </a:p>
          <a:p>
            <a:r>
              <a:t>relabelling the data by time, and training a new model evaluated honestly. Finally, I fixed the recording script so the</a:t>
            </a:r>
          </a:p>
          <a:p>
            <a:r>
              <a:t>new data we collect doesn't repeat the old problems. Everything is saved in git, so every change can be shown as a</a:t>
            </a:r>
          </a:p>
          <a:p>
            <a:r>
              <a:t>before-and-after.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system works. The Tobii eye tracker sits under the monitor. Because consumer Tobii devices don't give</a:t>
            </a:r>
          </a:p>
          <a:p>
            <a:r>
              <a:t>raw data to our programs without a paid licence, the previous intern used a trick: the Tobii Ghost app draws a green</a:t>
            </a:r>
          </a:p>
          <a:p>
            <a:r>
              <a:t>bubble where you look, and Python takes screenshots very fast and finds that green bubble. The bubble's position is the</a:t>
            </a:r>
          </a:p>
          <a:p>
            <a:r>
              <a:t>gaze point. From the gaze points we detect fixations, which is where the eye holds still. The reader clicks a 'Yes,</a:t>
            </a:r>
          </a:p>
          <a:p>
            <a:r>
              <a:t>confused' button whenever they are confused; those clicks are our ground truth labels. Finally a model learns to</a:t>
            </a:r>
          </a:p>
          <a:p>
            <a:r>
              <a:t>predict confusion from the eye movements. Two consequences of the screenshot trick: the sampling rate is low, and we</a:t>
            </a:r>
          </a:p>
          <a:p>
            <a:r>
              <a:t>can't measure pupil size, which is one of the best signals of confusion.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terms I'll use. A fixation is when the eye stays still on one spot. A saccade is the quick jump between two</a:t>
            </a:r>
          </a:p>
          <a:p>
            <a:r>
              <a:t>fixations. A regression is a jump backwards, which in reading means re-reading: either to the left on the same line or</a:t>
            </a:r>
          </a:p>
          <a:p>
            <a:r>
              <a:t>up to an earlier line. An AOI, area of interest, is a box around one line of text. The confusion click is our ground</a:t>
            </a:r>
          </a:p>
          <a:p>
            <a:r>
              <a:t>truth. For results I use ROC-AUC, where 0.5 means guessing and 1.0 is perfect, and PR-AUC, which focuses on finding the</a:t>
            </a:r>
          </a:p>
          <a:p>
            <a:r>
              <a:t>rare confused moments and must be compared with its chance value. Leave-one-session-out means we always test on a</a:t>
            </a:r>
          </a:p>
          <a:p>
            <a:r>
              <a:t>session, and therefore a text, that the model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goal was to run the existing system exactly as documented, so I understood every step. I installed everything,</a:t>
            </a:r>
          </a:p>
          <a:p>
            <a:r>
              <a:t>calibrated the Tobii, extracted the text lines with OCR, recorded myself reading, labelled the data and ran the live</a:t>
            </a:r>
          </a:p>
          <a:p>
            <a:r>
              <a:t>prediction demo. I also installed and built the webcam app; only the camera test is pending because we don't have a</a:t>
            </a:r>
          </a:p>
          <a:p>
            <a:r>
              <a:t>webcam on this PC. While doing this I found four problems the handover README didn't mention — on the right. The most</a:t>
            </a:r>
          </a:p>
          <a:p>
            <a:r>
              <a:t>serious one is the first: the recording script appends to old files, so new data would silently mix with old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 checked what data exists. There are 20 recording sessions from July 2025, each on a different page of text, with</a:t>
            </a:r>
          </a:p>
          <a:p>
            <a:r>
              <a:t>1,553 fixations. Importantly, every confusion click was saved with an exact timestamp, so I could relabel the data by</a:t>
            </a:r>
          </a:p>
          <a:p>
            <a:r>
              <a:t>time without collecting anything new. Two weaknesses: the sampling rate was only 5 to 8 samples per second, and nobody</a:t>
            </a:r>
          </a:p>
          <a:p>
            <a:r>
              <a:t>recorded who read the texts — the lab doesn't know whether it was one person or several. That limits what we can claim,</a:t>
            </a:r>
          </a:p>
          <a:p>
            <a:r>
              <a:t>and it's why new data with known participants is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problem with the old model. Its inputs included the screen position and one column per text line. But</a:t>
            </a:r>
          </a:p>
          <a:p>
            <a:r>
              <a:t>because all sessions shared the same column names, the column 'AOI_5' simply means 'the fourth line on the screen' — a</a:t>
            </a:r>
          </a:p>
          <a:p>
            <a:r>
              <a:t>different sentence in every text. On top of that, a click on a line labelled every fixation on that line as confused,</a:t>
            </a:r>
          </a:p>
          <a:p>
            <a:r>
              <a:t>for the whole session. So the model could learn 'the fourth line tends to be confusing', which can't work on any new</a:t>
            </a:r>
          </a:p>
          <a:p>
            <a:r>
              <a:t>text. The chart shows it measured: 72 percent of the model's decision comes from which line, and only 18 percent from</a:t>
            </a:r>
          </a:p>
          <a:p>
            <a:r>
              <a:t>eye behaviour. In the live demo I saw the same thing: predictions only fired on certain lines and never off the 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running experiments I fixed how eye movements are measured, because the features are the model's inputs. First,</a:t>
            </a:r>
          </a:p>
          <a:p>
            <a:r>
              <a:t>the regression flag: it fired on any upward movement, even one pixel. 89 percent of its flags were just the gaze</a:t>
            </a:r>
          </a:p>
          <a:p>
            <a:r>
              <a:t>jittering on the same line, median 6 pixels, while it missed 115 of 180 real leftward re-reads. The new rule only counts</a:t>
            </a:r>
          </a:p>
          <a:p>
            <a:r>
              <a:t>a jump left on the same line or up to an earlier line. Second, the time between fixations was measured from the start of</a:t>
            </a:r>
          </a:p>
          <a:p>
            <a:r>
              <a:t>the previous fixation, so it included that whole fixation; I corrected it. Third, a single missed screenshot, for</a:t>
            </a:r>
          </a:p>
          <a:p>
            <a:r>
              <a:t>example a blink, threw away the fixation in progress; now short dropouts are tolerated. All of this now lives in one</a:t>
            </a:r>
          </a:p>
          <a:p>
            <a:r>
              <a:t>shared module, gaze_core.py, instead of six copied versions.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Changing code is risky, so I checked every step. First, before applying any fix, I rewrote the original logic and</a:t>
            </a:r>
          </a:p>
          <a:p>
            <a:r>
              <a:t>showed it reproduces 99.1 percent of the fixations the original script logged — so any difference afterwards comes from</a:t>
            </a:r>
          </a:p>
          <a:p>
            <a:r>
              <a:t>the intended fixes. Second, a new recording processed live and offline gives identical results. Third, I checked the</a:t>
            </a:r>
          </a:p>
          <a:p>
            <a:r>
              <a:t>results don't depend on my choice of window length, and that the effect isn't caused by looking at the click button.</a:t>
            </a:r>
          </a:p>
          <a:p>
            <a:r>
              <a:t>These checks also caught two bugs in my own code — a time-zone offset and a missing-value issue — which I fixed and</a:t>
            </a:r>
          </a:p>
          <a:p>
            <a:r>
              <a:t>reported; they changed the results by at most 0.01.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1 changes how labels are made. The old rule asked: was this fixation ever on a line that was clicked? The new</a:t>
            </a:r>
          </a:p>
          <a:p>
            <a:r>
              <a:t>rule asks: did this fixation happen in the seconds before a click? That describes when the reader was confused, and it</a:t>
            </a:r>
          </a:p>
          <a:p>
            <a:r>
              <a:t>doesn't depend on line positions, so it can't leak position into the model. I tried windows of 5, 10 and 15 seconds.</a:t>
            </a:r>
          </a:p>
          <a:p>
            <a:r>
              <a:t>With 15 seconds, 35 percent of fixations are labelled confused — about the same as the old rule — so the 'implausibly</a:t>
            </a:r>
          </a:p>
          <a:p>
            <a:r>
              <a:t>high 36 percent' mentioned in the README comes mostly from the long window. Shorter windows give fewer, cleaner labels.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time-based labels I compared eye behaviour in the 5 seconds before each click with normal reading, inside each</a:t>
            </a:r>
          </a:p>
          <a:p>
            <a:r>
              <a:t>session, so every session is compared with itself. The chart shows the regression rate: every line is one session, and</a:t>
            </a:r>
          </a:p>
          <a:p>
            <a:r>
              <a:t>every single line goes up. The median rises from 11 to 28 percent. Fixations also get longer, and jumps get shorter.</a:t>
            </a:r>
          </a:p>
          <a:p>
            <a:r>
              <a:t>All three are statistically significant. These are exactly the signs of reading difficulty described in the literature,</a:t>
            </a:r>
          </a:p>
          <a:p>
            <a:r>
              <a:t>so the gaze data contains a real confusion signal. A caveat: this is a difference in averages; whether it allows</a:t>
            </a:r>
          </a:p>
          <a:p>
            <a:r>
              <a:t>prediction is tested in Experiment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2 asks whether we can predict confusion, measured honestly. Instead of single fixations, I use 10-second</a:t>
            </a:r>
          </a:p>
          <a:p>
            <a:r>
              <a:t>windows of reading, because confusion lasts a few seconds. A window counts as confused if it ends 0 to 3 seconds before</a:t>
            </a:r>
          </a:p>
          <a:p>
            <a:r>
              <a:t>a click — it contains the reading that led to the click, but not the click itself. The features describe only how the</a:t>
            </a:r>
          </a:p>
          <a:p>
            <a:r>
              <a:t>eyes move: regression rates, fixation durations, jump sizes and so on — no position and no line identity. The test is</a:t>
            </a:r>
          </a:p>
          <a:p>
            <a:r>
              <a:t>leave-one-session-out: train on 19 sessions, test on the 20th, and repeat for all. Since each session is a different</a:t>
            </a:r>
          </a:p>
          <a:p>
            <a:r>
              <a:t>text, this measures performance on new text. Confused windows are rare, 7 percent, which matters for reading PR-AUC.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results. The blue bar is the new model: behaviour only, tested on unseen sessions, AUC 0.76. In PR-AUC terms</a:t>
            </a:r>
          </a:p>
          <a:p>
            <a:r>
              <a:t>it finds confused windows about four times better than chance, 0.29 versus 0.07, and it works in 18 of the 19 sessions</a:t>
            </a:r>
          </a:p>
          <a:p>
            <a:r>
              <a:t>with clicks. The orange bars are the old setup: 0.87 on a random split, but only 0.74 when tested on unseen sessions.</a:t>
            </a:r>
          </a:p>
          <a:p>
            <a:r>
              <a:t>That drop of 0.13 is the over-optimism caused by the leakage, now measured. Note the old and new numbers aren't directly</a:t>
            </a:r>
          </a:p>
          <a:p>
            <a:r>
              <a:t>comparable because the labels differ; the key point is that the old 0.87 was inflated. The grey bar shows a single</a:t>
            </a:r>
          </a:p>
          <a:p>
            <a:r>
              <a:t>feature, regression rate, already gets 0.71, so machine learning adds a modest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important to be clear about what we can and cannot claim. We can say that eye behaviour carries a real confusion</a:t>
            </a:r>
          </a:p>
          <a:p>
            <a:r>
              <a:t>signal, that it works on texts the model has never seen, and that the old accuracy was inflated. We cannot yet say it</a:t>
            </a:r>
          </a:p>
          <a:p>
            <a:r>
              <a:t>works across people, because nobody knows who read the old texts — possibly only one person. My own session on the new</a:t>
            </a:r>
          </a:p>
          <a:p>
            <a:r>
              <a:t>setup was too small to judge: 46 windows with 9 confused, and it was recorded at a much higher sampling rate, which</a:t>
            </a:r>
          </a:p>
          <a:p>
            <a:r>
              <a:t>changes the features. And with 5 to 8 samples per second and no pupil data, we can't study fast saccades or pupil</a:t>
            </a:r>
          </a:p>
          <a:p>
            <a:r>
              <a:t>dilation. These open points define the next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collecting new data, I fixed the recording script, so new sessions don't repeat the old problems. The new script,</a:t>
            </a:r>
          </a:p>
          <a:p>
            <a:r>
              <a:t>collect.py, saves each session in its own folder named by participant, text and time, and never appends. It captures</a:t>
            </a:r>
          </a:p>
          <a:p>
            <a:r>
              <a:t>the text lines at the start of each session, uses the same validated code as the analysis, and records the setup in a</a:t>
            </a:r>
          </a:p>
          <a:p>
            <a:r>
              <a:t>meta file. Removing unnecessary pauses raised the sampling rate from 18 to 29 samples per second on our PC — four to</a:t>
            </a:r>
          </a:p>
          <a:p>
            <a:r>
              <a:t>five times the old data. I tested it live with the Tobii. I also wrote a quality check that runs after each recording,</a:t>
            </a:r>
          </a:p>
          <a:p>
            <a:r>
              <a:t>and a step-by-step protocol for running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intern built a webcam version that runs in the browser without an eye tracker. I installed it and it builds</a:t>
            </a:r>
          </a:p>
          <a:p>
            <a:r>
              <a:t>and runs; the only missing part is a test with a real camera, because this PC has none. It's important to know its</a:t>
            </a:r>
          </a:p>
          <a:p>
            <a:r>
              <a:t>limits: a webcam's gaze error is around 150 pixels, while a text line is about 30 pixels tall, so it can only tell which</a:t>
            </a:r>
          </a:p>
          <a:p>
            <a:r>
              <a:t>paragraph you look at, not which line. It can't measure pupil size either. On the other hand it can see blinks and brow</a:t>
            </a:r>
          </a:p>
          <a:p>
            <a:r>
              <a:t>furrowing, which the Tobii can't. The plan is to add logging and a confused button, add calibration, and then record the</a:t>
            </a:r>
          </a:p>
          <a:p>
            <a:r>
              <a:t>webcam and the Tobii at the same time to measure exactly how much accuracy a webcam loses.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 is Experiment 3: new data with known participants. I propose three texts — easy, medium and hard — and 10</a:t>
            </a:r>
          </a:p>
          <a:p>
            <a:r>
              <a:t>to 12 participants, each reading all three in a rotated order. The protocol and quality check are ready. With that data</a:t>
            </a:r>
          </a:p>
          <a:p>
            <a:r>
              <a:t>I can test, for the first time, whether the result holds across people, by leaving one participant out at a time. For</a:t>
            </a:r>
          </a:p>
          <a:p>
            <a:r>
              <a:t>this I need four decisions from you: approval of the texts and participant plan, the ethics and consent process, whether</a:t>
            </a:r>
          </a:p>
          <a:p>
            <a:r>
              <a:t>we can get a Tobii Pro device or SDK licence for pupil size and real saccades, and a webcam for the webcam track.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the pipeline runs end to end, and every change is versioned and checked. The old model's accuracy was not</a:t>
            </a:r>
          </a:p>
          <a:p>
            <a:r>
              <a:t>valid, because it learned where the confusing lines were rather than how confused eyes move. After fixing the</a:t>
            </a:r>
          </a:p>
          <a:p>
            <a:r>
              <a:t>measurements and evaluating honestly, eye behaviour alone detects the build-up to a confusion click on unseen texts with</a:t>
            </a:r>
          </a:p>
          <a:p>
            <a:r>
              <a:t>an AUC of 0.76. The next step is new data with known readers, to test whether this holds across people. Thank you — I'm</a:t>
            </a:r>
          </a:p>
          <a:p>
            <a:r>
              <a:t>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Preparation slide: likely questions with short answers. Keep it in the appendix and show it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Preparation slide: likely questions with short answers. Keep it in the appendix and show it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where each piece of work lives in the repository, in case you want to look at the code or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515600" cy="365760"/>
          </a:xfrm>
          <a:prstGeom prst="rect">
            <a:avLst/>
          </a:prstGeom>
          <a:noFill/>
        </p:spPr>
        <p:txBody>
          <a:bodyPr wrap="square" lIns="0" rIns="0" tIns="0" bIns="0" anchor="t">
            <a:spAutoFit/>
          </a:bodyPr>
          <a:lstStyle/>
          <a:p>
            <a:pPr algn="l">
              <a:lnSpc>
                <a:spcPct val="100000"/>
              </a:lnSpc>
              <a:spcAft>
                <a:spcPts val="600"/>
              </a:spcAft>
            </a:pPr>
            <a:r>
              <a:rPr sz="1400" b="1">
                <a:solidFill>
                  <a:srgbClr val="2A78D6"/>
                </a:solidFill>
                <a:latin typeface="Calibri"/>
              </a:rPr>
              <a:t>PROGRESS REPORT</a:t>
            </a:r>
          </a:p>
        </p:txBody>
      </p:sp>
      <p:sp>
        <p:nvSpPr>
          <p:cNvPr id="4" name="TextBox 3"/>
          <p:cNvSpPr txBox="1"/>
          <p:nvPr/>
        </p:nvSpPr>
        <p:spPr>
          <a:xfrm>
            <a:off x="822960" y="1965960"/>
            <a:ext cx="10515600" cy="1645920"/>
          </a:xfrm>
          <a:prstGeom prst="rect">
            <a:avLst/>
          </a:prstGeom>
          <a:noFill/>
        </p:spPr>
        <p:txBody>
          <a:bodyPr wrap="square" lIns="0" rIns="0" tIns="0" bIns="0" anchor="t">
            <a:spAutoFit/>
          </a:bodyPr>
          <a:lstStyle/>
          <a:p>
            <a:pPr algn="l">
              <a:lnSpc>
                <a:spcPct val="100000"/>
              </a:lnSpc>
              <a:spcAft>
                <a:spcPts val="600"/>
              </a:spcAft>
            </a:pPr>
            <a:r>
              <a:rPr sz="4400" b="1">
                <a:solidFill>
                  <a:srgbClr val="0B0B0B"/>
                </a:solidFill>
                <a:latin typeface="Calibri"/>
              </a:rPr>
              <a:t>Detecting reading confusion from eye movements</a:t>
            </a:r>
          </a:p>
        </p:txBody>
      </p:sp>
      <p:sp>
        <p:nvSpPr>
          <p:cNvPr id="5" name="TextBox 4"/>
          <p:cNvSpPr txBox="1"/>
          <p:nvPr/>
        </p:nvSpPr>
        <p:spPr>
          <a:xfrm>
            <a:off x="822960" y="3611880"/>
            <a:ext cx="10058400" cy="914400"/>
          </a:xfrm>
          <a:prstGeom prst="rect">
            <a:avLst/>
          </a:prstGeom>
          <a:noFill/>
        </p:spPr>
        <p:txBody>
          <a:bodyPr wrap="square" lIns="0" rIns="0" tIns="0" bIns="0" anchor="t">
            <a:spAutoFit/>
          </a:bodyPr>
          <a:lstStyle/>
          <a:p>
            <a:pPr algn="l">
              <a:lnSpc>
                <a:spcPct val="100000"/>
              </a:lnSpc>
              <a:spcAft>
                <a:spcPts val="600"/>
              </a:spcAft>
            </a:pPr>
            <a:r>
              <a:rPr sz="2400" b="0">
                <a:solidFill>
                  <a:srgbClr val="52514E"/>
                </a:solidFill>
                <a:latin typeface="Calibri"/>
              </a:rPr>
              <a:t>Reproducing the pipeline, fixing what was broken, and an honest first result</a:t>
            </a:r>
          </a:p>
        </p:txBody>
      </p:sp>
      <p:sp>
        <p:nvSpPr>
          <p:cNvPr id="6" name="Rectangle 5"/>
          <p:cNvSpPr/>
          <p:nvPr/>
        </p:nvSpPr>
        <p:spPr>
          <a:xfrm>
            <a:off x="822960" y="4754880"/>
            <a:ext cx="1097280" cy="45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983480"/>
            <a:ext cx="10058400" cy="914400"/>
          </a:xfrm>
          <a:prstGeom prst="rect">
            <a:avLst/>
          </a:prstGeom>
          <a:noFill/>
        </p:spPr>
        <p:txBody>
          <a:bodyPr wrap="square" lIns="0" rIns="0" tIns="0" bIns="0" anchor="t">
            <a:spAutoFit/>
          </a:bodyPr>
          <a:lstStyle/>
          <a:p>
            <a:pPr algn="l">
              <a:lnSpc>
                <a:spcPct val="100000"/>
              </a:lnSpc>
              <a:spcAft>
                <a:spcPts val="200"/>
              </a:spcAft>
            </a:pPr>
            <a:r>
              <a:rPr sz="1800" b="1">
                <a:solidFill>
                  <a:srgbClr val="0B0B0B"/>
                </a:solidFill>
                <a:latin typeface="Calibri"/>
              </a:rPr>
              <a:t>[Your name]</a:t>
            </a:r>
          </a:p>
          <a:p>
            <a:pPr algn="l">
              <a:lnSpc>
                <a:spcPct val="100000"/>
              </a:lnSpc>
              <a:spcAft>
                <a:spcPts val="600"/>
              </a:spcAft>
            </a:pPr>
            <a:r>
              <a:rPr sz="1600" b="0">
                <a:solidFill>
                  <a:srgbClr val="52514E"/>
                </a:solidFill>
                <a:latin typeface="Calibri"/>
              </a:rPr>
              <a:t>Ubiquitous &amp; Systems Research Lab, IIT Jodhpur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OVERVIEW</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What I did, in five steps</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2</a:t>
            </a:r>
          </a:p>
        </p:txBody>
      </p:sp>
      <p:sp>
        <p:nvSpPr>
          <p:cNvPr id="7" name="Rounded Rectangle 6"/>
          <p:cNvSpPr/>
          <p:nvPr/>
        </p:nvSpPr>
        <p:spPr>
          <a:xfrm>
            <a:off x="640080" y="1783080"/>
            <a:ext cx="2057400" cy="32918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965960"/>
            <a:ext cx="1691640" cy="731520"/>
          </a:xfrm>
          <a:prstGeom prst="rect">
            <a:avLst/>
          </a:prstGeom>
          <a:noFill/>
        </p:spPr>
        <p:txBody>
          <a:bodyPr wrap="square" lIns="0" rIns="0" tIns="0" bIns="0" anchor="t">
            <a:spAutoFit/>
          </a:bodyPr>
          <a:lstStyle/>
          <a:p>
            <a:pPr algn="l">
              <a:lnSpc>
                <a:spcPct val="100000"/>
              </a:lnSpc>
              <a:spcAft>
                <a:spcPts val="600"/>
              </a:spcAft>
            </a:pPr>
            <a:r>
              <a:rPr sz="4000" b="1">
                <a:solidFill>
                  <a:srgbClr val="2A78D6"/>
                </a:solidFill>
                <a:latin typeface="Calibri"/>
              </a:rPr>
              <a:t>1</a:t>
            </a:r>
          </a:p>
        </p:txBody>
      </p:sp>
      <p:sp>
        <p:nvSpPr>
          <p:cNvPr id="9" name="TextBox 8"/>
          <p:cNvSpPr txBox="1"/>
          <p:nvPr/>
        </p:nvSpPr>
        <p:spPr>
          <a:xfrm>
            <a:off x="841247" y="2743200"/>
            <a:ext cx="1691640" cy="68580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Reproduced</a:t>
            </a:r>
          </a:p>
        </p:txBody>
      </p:sp>
      <p:sp>
        <p:nvSpPr>
          <p:cNvPr id="10" name="TextBox 9"/>
          <p:cNvSpPr txBox="1"/>
          <p:nvPr/>
        </p:nvSpPr>
        <p:spPr>
          <a:xfrm>
            <a:off x="841247" y="3429000"/>
            <a:ext cx="1691640" cy="155448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Ran the whole Tobii pipeline on the lab PC; set up the webcam app</a:t>
            </a:r>
          </a:p>
        </p:txBody>
      </p:sp>
      <p:sp>
        <p:nvSpPr>
          <p:cNvPr id="11" name="Rounded Rectangle 10"/>
          <p:cNvSpPr/>
          <p:nvPr/>
        </p:nvSpPr>
        <p:spPr>
          <a:xfrm>
            <a:off x="2862072" y="1783080"/>
            <a:ext cx="2057400" cy="32918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1965960"/>
            <a:ext cx="1691640" cy="731520"/>
          </a:xfrm>
          <a:prstGeom prst="rect">
            <a:avLst/>
          </a:prstGeom>
          <a:noFill/>
        </p:spPr>
        <p:txBody>
          <a:bodyPr wrap="square" lIns="0" rIns="0" tIns="0" bIns="0" anchor="t">
            <a:spAutoFit/>
          </a:bodyPr>
          <a:lstStyle/>
          <a:p>
            <a:pPr algn="l">
              <a:lnSpc>
                <a:spcPct val="100000"/>
              </a:lnSpc>
              <a:spcAft>
                <a:spcPts val="600"/>
              </a:spcAft>
            </a:pPr>
            <a:r>
              <a:rPr sz="4000" b="1">
                <a:solidFill>
                  <a:srgbClr val="2A78D6"/>
                </a:solidFill>
                <a:latin typeface="Calibri"/>
              </a:rPr>
              <a:t>2</a:t>
            </a:r>
          </a:p>
        </p:txBody>
      </p:sp>
      <p:sp>
        <p:nvSpPr>
          <p:cNvPr id="13" name="TextBox 12"/>
          <p:cNvSpPr txBox="1"/>
          <p:nvPr/>
        </p:nvSpPr>
        <p:spPr>
          <a:xfrm>
            <a:off x="3063240" y="2743200"/>
            <a:ext cx="1691640" cy="68580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Audited</a:t>
            </a:r>
          </a:p>
        </p:txBody>
      </p:sp>
      <p:sp>
        <p:nvSpPr>
          <p:cNvPr id="14" name="TextBox 13"/>
          <p:cNvSpPr txBox="1"/>
          <p:nvPr/>
        </p:nvSpPr>
        <p:spPr>
          <a:xfrm>
            <a:off x="3063240" y="3429000"/>
            <a:ext cx="1691640" cy="155448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Checked the old data and model — found why the old accuracy is not valid</a:t>
            </a:r>
          </a:p>
        </p:txBody>
      </p:sp>
      <p:sp>
        <p:nvSpPr>
          <p:cNvPr id="15" name="Rounded Rectangle 14"/>
          <p:cNvSpPr/>
          <p:nvPr/>
        </p:nvSpPr>
        <p:spPr>
          <a:xfrm>
            <a:off x="5084064" y="1783080"/>
            <a:ext cx="2057400" cy="32918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5232" y="1965960"/>
            <a:ext cx="1691640" cy="731520"/>
          </a:xfrm>
          <a:prstGeom prst="rect">
            <a:avLst/>
          </a:prstGeom>
          <a:noFill/>
        </p:spPr>
        <p:txBody>
          <a:bodyPr wrap="square" lIns="0" rIns="0" tIns="0" bIns="0" anchor="t">
            <a:spAutoFit/>
          </a:bodyPr>
          <a:lstStyle/>
          <a:p>
            <a:pPr algn="l">
              <a:lnSpc>
                <a:spcPct val="100000"/>
              </a:lnSpc>
              <a:spcAft>
                <a:spcPts val="600"/>
              </a:spcAft>
            </a:pPr>
            <a:r>
              <a:rPr sz="4000" b="1">
                <a:solidFill>
                  <a:srgbClr val="2A78D6"/>
                </a:solidFill>
                <a:latin typeface="Calibri"/>
              </a:rPr>
              <a:t>3</a:t>
            </a:r>
          </a:p>
        </p:txBody>
      </p:sp>
      <p:sp>
        <p:nvSpPr>
          <p:cNvPr id="17" name="TextBox 16"/>
          <p:cNvSpPr txBox="1"/>
          <p:nvPr/>
        </p:nvSpPr>
        <p:spPr>
          <a:xfrm>
            <a:off x="5285232" y="2743200"/>
            <a:ext cx="1691640" cy="68580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Fixed measurements</a:t>
            </a:r>
          </a:p>
        </p:txBody>
      </p:sp>
      <p:sp>
        <p:nvSpPr>
          <p:cNvPr id="18" name="TextBox 17"/>
          <p:cNvSpPr txBox="1"/>
          <p:nvPr/>
        </p:nvSpPr>
        <p:spPr>
          <a:xfrm>
            <a:off x="5285232" y="3429000"/>
            <a:ext cx="1691640" cy="155448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Regressions, saccade timing, fixations lost on blinks</a:t>
            </a:r>
          </a:p>
        </p:txBody>
      </p:sp>
      <p:sp>
        <p:nvSpPr>
          <p:cNvPr id="19" name="Rounded Rectangle 18"/>
          <p:cNvSpPr/>
          <p:nvPr/>
        </p:nvSpPr>
        <p:spPr>
          <a:xfrm>
            <a:off x="7306056" y="1783080"/>
            <a:ext cx="2057400" cy="32918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07224" y="1965960"/>
            <a:ext cx="1691640" cy="731520"/>
          </a:xfrm>
          <a:prstGeom prst="rect">
            <a:avLst/>
          </a:prstGeom>
          <a:noFill/>
        </p:spPr>
        <p:txBody>
          <a:bodyPr wrap="square" lIns="0" rIns="0" tIns="0" bIns="0" anchor="t">
            <a:spAutoFit/>
          </a:bodyPr>
          <a:lstStyle/>
          <a:p>
            <a:pPr algn="l">
              <a:lnSpc>
                <a:spcPct val="100000"/>
              </a:lnSpc>
              <a:spcAft>
                <a:spcPts val="600"/>
              </a:spcAft>
            </a:pPr>
            <a:r>
              <a:rPr sz="4000" b="1">
                <a:solidFill>
                  <a:srgbClr val="2A78D6"/>
                </a:solidFill>
                <a:latin typeface="Calibri"/>
              </a:rPr>
              <a:t>4</a:t>
            </a:r>
          </a:p>
        </p:txBody>
      </p:sp>
      <p:sp>
        <p:nvSpPr>
          <p:cNvPr id="21" name="TextBox 20"/>
          <p:cNvSpPr txBox="1"/>
          <p:nvPr/>
        </p:nvSpPr>
        <p:spPr>
          <a:xfrm>
            <a:off x="7507224" y="2743200"/>
            <a:ext cx="1691640" cy="68580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Experiments</a:t>
            </a:r>
          </a:p>
        </p:txBody>
      </p:sp>
      <p:sp>
        <p:nvSpPr>
          <p:cNvPr id="22" name="TextBox 21"/>
          <p:cNvSpPr txBox="1"/>
          <p:nvPr/>
        </p:nvSpPr>
        <p:spPr>
          <a:xfrm>
            <a:off x="7507224" y="3429000"/>
            <a:ext cx="1691640" cy="155448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Exp. 1: labels by time. Exp. 2: honest test on unseen texts, AUC 0.76</a:t>
            </a:r>
          </a:p>
        </p:txBody>
      </p:sp>
      <p:sp>
        <p:nvSpPr>
          <p:cNvPr id="23" name="Rounded Rectangle 22"/>
          <p:cNvSpPr/>
          <p:nvPr/>
        </p:nvSpPr>
        <p:spPr>
          <a:xfrm>
            <a:off x="9528048" y="1783080"/>
            <a:ext cx="2057400" cy="32918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9216" y="1965960"/>
            <a:ext cx="1691640" cy="731520"/>
          </a:xfrm>
          <a:prstGeom prst="rect">
            <a:avLst/>
          </a:prstGeom>
          <a:noFill/>
        </p:spPr>
        <p:txBody>
          <a:bodyPr wrap="square" lIns="0" rIns="0" tIns="0" bIns="0" anchor="t">
            <a:spAutoFit/>
          </a:bodyPr>
          <a:lstStyle/>
          <a:p>
            <a:pPr algn="l">
              <a:lnSpc>
                <a:spcPct val="100000"/>
              </a:lnSpc>
              <a:spcAft>
                <a:spcPts val="600"/>
              </a:spcAft>
            </a:pPr>
            <a:r>
              <a:rPr sz="4000" b="1">
                <a:solidFill>
                  <a:srgbClr val="2A78D6"/>
                </a:solidFill>
                <a:latin typeface="Calibri"/>
              </a:rPr>
              <a:t>5</a:t>
            </a:r>
          </a:p>
        </p:txBody>
      </p:sp>
      <p:sp>
        <p:nvSpPr>
          <p:cNvPr id="25" name="TextBox 24"/>
          <p:cNvSpPr txBox="1"/>
          <p:nvPr/>
        </p:nvSpPr>
        <p:spPr>
          <a:xfrm>
            <a:off x="9729216" y="2743200"/>
            <a:ext cx="1691640" cy="68580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Fixed recording</a:t>
            </a:r>
          </a:p>
        </p:txBody>
      </p:sp>
      <p:sp>
        <p:nvSpPr>
          <p:cNvPr id="26" name="TextBox 25"/>
          <p:cNvSpPr txBox="1"/>
          <p:nvPr/>
        </p:nvSpPr>
        <p:spPr>
          <a:xfrm>
            <a:off x="9729216" y="3429000"/>
            <a:ext cx="1691640" cy="155448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29 Hz gaze, one folder per session, quality check, protocol</a:t>
            </a:r>
          </a:p>
        </p:txBody>
      </p:sp>
      <p:sp>
        <p:nvSpPr>
          <p:cNvPr id="27" name="TextBox 26"/>
          <p:cNvSpPr txBox="1"/>
          <p:nvPr/>
        </p:nvSpPr>
        <p:spPr>
          <a:xfrm>
            <a:off x="640080" y="5440680"/>
            <a:ext cx="10972800" cy="731520"/>
          </a:xfrm>
          <a:prstGeom prst="rect">
            <a:avLst/>
          </a:prstGeom>
          <a:noFill/>
        </p:spPr>
        <p:txBody>
          <a:bodyPr wrap="square" lIns="0" rIns="0" tIns="0" bIns="0" anchor="t">
            <a:spAutoFit/>
          </a:bodyPr>
          <a:lstStyle/>
          <a:p>
            <a:pPr algn="l">
              <a:lnSpc>
                <a:spcPct val="100000"/>
              </a:lnSpc>
              <a:spcAft>
                <a:spcPts val="600"/>
              </a:spcAft>
            </a:pPr>
            <a:r>
              <a:rPr sz="1600" b="0">
                <a:solidFill>
                  <a:srgbClr val="52514E"/>
                </a:solidFill>
                <a:latin typeface="Calibri"/>
              </a:rPr>
              <a:t>Every change is committed in git (branch </a:t>
            </a:r>
            <a:r>
              <a:rPr sz="1600" b="1">
                <a:solidFill>
                  <a:srgbClr val="52514E"/>
                </a:solidFill>
                <a:latin typeface="Calibri"/>
              </a:rPr>
              <a:t>intern-work</a:t>
            </a:r>
            <a:r>
              <a:rPr sz="1600" b="0">
                <a:solidFill>
                  <a:srgbClr val="52514E"/>
                </a:solidFill>
                <a:latin typeface="Calibri"/>
              </a:rPr>
              <a:t>) on top of an untouched copy of the original code, so each fix can be shown as a before / after.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BACKGROUND</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How the system works</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3</a:t>
            </a:r>
          </a:p>
        </p:txBody>
      </p:sp>
      <p:sp>
        <p:nvSpPr>
          <p:cNvPr id="7" name="Rounded Rectangle 6"/>
          <p:cNvSpPr/>
          <p:nvPr/>
        </p:nvSpPr>
        <p:spPr>
          <a:xfrm>
            <a:off x="640080" y="2011680"/>
            <a:ext cx="1874519" cy="19202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1600199" cy="457200"/>
          </a:xfrm>
          <a:prstGeom prst="rect">
            <a:avLst/>
          </a:prstGeom>
          <a:noFill/>
        </p:spPr>
        <p:txBody>
          <a:bodyPr wrap="square" lIns="0" rIns="0" tIns="0" bIns="0" anchor="t">
            <a:spAutoFit/>
          </a:bodyPr>
          <a:lstStyle/>
          <a:p>
            <a:pPr algn="ctr">
              <a:lnSpc>
                <a:spcPct val="100000"/>
              </a:lnSpc>
              <a:spcAft>
                <a:spcPts val="600"/>
              </a:spcAft>
            </a:pPr>
            <a:r>
              <a:rPr sz="1900" b="1">
                <a:solidFill>
                  <a:srgbClr val="0B0B0B"/>
                </a:solidFill>
                <a:latin typeface="Calibri"/>
              </a:rPr>
              <a:t>Tobii + Ghost</a:t>
            </a:r>
          </a:p>
        </p:txBody>
      </p:sp>
      <p:sp>
        <p:nvSpPr>
          <p:cNvPr id="9" name="TextBox 8"/>
          <p:cNvSpPr txBox="1"/>
          <p:nvPr/>
        </p:nvSpPr>
        <p:spPr>
          <a:xfrm>
            <a:off x="777240" y="2697480"/>
            <a:ext cx="1600199" cy="1143000"/>
          </a:xfrm>
          <a:prstGeom prst="rect">
            <a:avLst/>
          </a:prstGeom>
          <a:noFill/>
        </p:spPr>
        <p:txBody>
          <a:bodyPr wrap="square" lIns="0" rIns="0" tIns="0" bIns="0" anchor="t">
            <a:spAutoFit/>
          </a:bodyPr>
          <a:lstStyle/>
          <a:p>
            <a:pPr algn="ctr">
              <a:lnSpc>
                <a:spcPct val="100000"/>
              </a:lnSpc>
              <a:spcAft>
                <a:spcPts val="600"/>
              </a:spcAft>
            </a:pPr>
            <a:r>
              <a:rPr sz="1500" b="0">
                <a:solidFill>
                  <a:srgbClr val="52514E"/>
                </a:solidFill>
                <a:latin typeface="Calibri"/>
              </a:rPr>
              <a:t>draws a green bubble where you look</a:t>
            </a:r>
          </a:p>
        </p:txBody>
      </p:sp>
      <p:sp>
        <p:nvSpPr>
          <p:cNvPr id="10" name="Right Arrow 9"/>
          <p:cNvSpPr/>
          <p:nvPr/>
        </p:nvSpPr>
        <p:spPr>
          <a:xfrm>
            <a:off x="2578608" y="2816352"/>
            <a:ext cx="283464" cy="310896"/>
          </a:xfrm>
          <a:prstGeom prst="rightArrow">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26080" y="2011680"/>
            <a:ext cx="1874519" cy="19202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194560"/>
            <a:ext cx="1600199" cy="457200"/>
          </a:xfrm>
          <a:prstGeom prst="rect">
            <a:avLst/>
          </a:prstGeom>
          <a:noFill/>
        </p:spPr>
        <p:txBody>
          <a:bodyPr wrap="square" lIns="0" rIns="0" tIns="0" bIns="0" anchor="t">
            <a:spAutoFit/>
          </a:bodyPr>
          <a:lstStyle/>
          <a:p>
            <a:pPr algn="ctr">
              <a:lnSpc>
                <a:spcPct val="100000"/>
              </a:lnSpc>
              <a:spcAft>
                <a:spcPts val="600"/>
              </a:spcAft>
            </a:pPr>
            <a:r>
              <a:rPr sz="1900" b="1">
                <a:solidFill>
                  <a:srgbClr val="0B0B0B"/>
                </a:solidFill>
                <a:latin typeface="Calibri"/>
              </a:rPr>
              <a:t>Screenshots</a:t>
            </a:r>
          </a:p>
        </p:txBody>
      </p:sp>
      <p:sp>
        <p:nvSpPr>
          <p:cNvPr id="13" name="TextBox 12"/>
          <p:cNvSpPr txBox="1"/>
          <p:nvPr/>
        </p:nvSpPr>
        <p:spPr>
          <a:xfrm>
            <a:off x="3063240" y="2697480"/>
            <a:ext cx="1600199" cy="1143000"/>
          </a:xfrm>
          <a:prstGeom prst="rect">
            <a:avLst/>
          </a:prstGeom>
          <a:noFill/>
        </p:spPr>
        <p:txBody>
          <a:bodyPr wrap="square" lIns="0" rIns="0" tIns="0" bIns="0" anchor="t">
            <a:spAutoFit/>
          </a:bodyPr>
          <a:lstStyle/>
          <a:p>
            <a:pPr algn="ctr">
              <a:lnSpc>
                <a:spcPct val="100000"/>
              </a:lnSpc>
              <a:spcAft>
                <a:spcPts val="600"/>
              </a:spcAft>
            </a:pPr>
            <a:r>
              <a:rPr sz="1500" b="0">
                <a:solidFill>
                  <a:srgbClr val="52514E"/>
                </a:solidFill>
                <a:latin typeface="Calibri"/>
              </a:rPr>
              <a:t>find the bubble → gaze point (x, y, time)</a:t>
            </a:r>
          </a:p>
        </p:txBody>
      </p:sp>
      <p:sp>
        <p:nvSpPr>
          <p:cNvPr id="14" name="Right Arrow 13"/>
          <p:cNvSpPr/>
          <p:nvPr/>
        </p:nvSpPr>
        <p:spPr>
          <a:xfrm>
            <a:off x="4864608" y="2816352"/>
            <a:ext cx="283464" cy="310896"/>
          </a:xfrm>
          <a:prstGeom prst="rightArrow">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12080" y="2011680"/>
            <a:ext cx="1874519" cy="19202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2194560"/>
            <a:ext cx="1600199" cy="457200"/>
          </a:xfrm>
          <a:prstGeom prst="rect">
            <a:avLst/>
          </a:prstGeom>
          <a:noFill/>
        </p:spPr>
        <p:txBody>
          <a:bodyPr wrap="square" lIns="0" rIns="0" tIns="0" bIns="0" anchor="t">
            <a:spAutoFit/>
          </a:bodyPr>
          <a:lstStyle/>
          <a:p>
            <a:pPr algn="ctr">
              <a:lnSpc>
                <a:spcPct val="100000"/>
              </a:lnSpc>
              <a:spcAft>
                <a:spcPts val="600"/>
              </a:spcAft>
            </a:pPr>
            <a:r>
              <a:rPr sz="1900" b="1">
                <a:solidFill>
                  <a:srgbClr val="0B0B0B"/>
                </a:solidFill>
                <a:latin typeface="Calibri"/>
              </a:rPr>
              <a:t>Fixations</a:t>
            </a:r>
          </a:p>
        </p:txBody>
      </p:sp>
      <p:sp>
        <p:nvSpPr>
          <p:cNvPr id="17" name="TextBox 16"/>
          <p:cNvSpPr txBox="1"/>
          <p:nvPr/>
        </p:nvSpPr>
        <p:spPr>
          <a:xfrm>
            <a:off x="5349240" y="2697480"/>
            <a:ext cx="1600199" cy="1143000"/>
          </a:xfrm>
          <a:prstGeom prst="rect">
            <a:avLst/>
          </a:prstGeom>
          <a:noFill/>
        </p:spPr>
        <p:txBody>
          <a:bodyPr wrap="square" lIns="0" rIns="0" tIns="0" bIns="0" anchor="t">
            <a:spAutoFit/>
          </a:bodyPr>
          <a:lstStyle/>
          <a:p>
            <a:pPr algn="ctr">
              <a:lnSpc>
                <a:spcPct val="100000"/>
              </a:lnSpc>
              <a:spcAft>
                <a:spcPts val="600"/>
              </a:spcAft>
            </a:pPr>
            <a:r>
              <a:rPr sz="1500" b="0">
                <a:solidFill>
                  <a:srgbClr val="52514E"/>
                </a:solidFill>
                <a:latin typeface="Calibri"/>
              </a:rPr>
              <a:t>eye holds ≥ 0.25 s within 25 px</a:t>
            </a:r>
          </a:p>
        </p:txBody>
      </p:sp>
      <p:sp>
        <p:nvSpPr>
          <p:cNvPr id="18" name="Right Arrow 17"/>
          <p:cNvSpPr/>
          <p:nvPr/>
        </p:nvSpPr>
        <p:spPr>
          <a:xfrm>
            <a:off x="7150608" y="2816352"/>
            <a:ext cx="283464" cy="310896"/>
          </a:xfrm>
          <a:prstGeom prst="rightArrow">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98079" y="2011680"/>
            <a:ext cx="1874519" cy="19202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2194560"/>
            <a:ext cx="1600199" cy="457200"/>
          </a:xfrm>
          <a:prstGeom prst="rect">
            <a:avLst/>
          </a:prstGeom>
          <a:noFill/>
        </p:spPr>
        <p:txBody>
          <a:bodyPr wrap="square" lIns="0" rIns="0" tIns="0" bIns="0" anchor="t">
            <a:spAutoFit/>
          </a:bodyPr>
          <a:lstStyle/>
          <a:p>
            <a:pPr algn="ctr">
              <a:lnSpc>
                <a:spcPct val="100000"/>
              </a:lnSpc>
              <a:spcAft>
                <a:spcPts val="600"/>
              </a:spcAft>
            </a:pPr>
            <a:r>
              <a:rPr sz="1900" b="1">
                <a:solidFill>
                  <a:srgbClr val="0B0B0B"/>
                </a:solidFill>
                <a:latin typeface="Calibri"/>
              </a:rPr>
              <a:t>Labels</a:t>
            </a:r>
          </a:p>
        </p:txBody>
      </p:sp>
      <p:sp>
        <p:nvSpPr>
          <p:cNvPr id="21" name="TextBox 20"/>
          <p:cNvSpPr txBox="1"/>
          <p:nvPr/>
        </p:nvSpPr>
        <p:spPr>
          <a:xfrm>
            <a:off x="7635240" y="2697480"/>
            <a:ext cx="1600199" cy="1143000"/>
          </a:xfrm>
          <a:prstGeom prst="rect">
            <a:avLst/>
          </a:prstGeom>
          <a:noFill/>
        </p:spPr>
        <p:txBody>
          <a:bodyPr wrap="square" lIns="0" rIns="0" tIns="0" bIns="0" anchor="t">
            <a:spAutoFit/>
          </a:bodyPr>
          <a:lstStyle/>
          <a:p>
            <a:pPr algn="ctr">
              <a:lnSpc>
                <a:spcPct val="100000"/>
              </a:lnSpc>
              <a:spcAft>
                <a:spcPts val="600"/>
              </a:spcAft>
            </a:pPr>
            <a:r>
              <a:rPr sz="1500" b="0">
                <a:solidFill>
                  <a:srgbClr val="52514E"/>
                </a:solidFill>
                <a:latin typeface="Calibri"/>
              </a:rPr>
              <a:t>reader clicks “Yes (Confused)”</a:t>
            </a:r>
          </a:p>
        </p:txBody>
      </p:sp>
      <p:sp>
        <p:nvSpPr>
          <p:cNvPr id="22" name="Right Arrow 21"/>
          <p:cNvSpPr/>
          <p:nvPr/>
        </p:nvSpPr>
        <p:spPr>
          <a:xfrm>
            <a:off x="9436608" y="2816352"/>
            <a:ext cx="283464" cy="310896"/>
          </a:xfrm>
          <a:prstGeom prst="rightArrow">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84080" y="2011680"/>
            <a:ext cx="1874519" cy="19202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2194560"/>
            <a:ext cx="1600199" cy="457200"/>
          </a:xfrm>
          <a:prstGeom prst="rect">
            <a:avLst/>
          </a:prstGeom>
          <a:noFill/>
        </p:spPr>
        <p:txBody>
          <a:bodyPr wrap="square" lIns="0" rIns="0" tIns="0" bIns="0" anchor="t">
            <a:spAutoFit/>
          </a:bodyPr>
          <a:lstStyle/>
          <a:p>
            <a:pPr algn="ctr">
              <a:lnSpc>
                <a:spcPct val="100000"/>
              </a:lnSpc>
              <a:spcAft>
                <a:spcPts val="600"/>
              </a:spcAft>
            </a:pPr>
            <a:r>
              <a:rPr sz="1900" b="1">
                <a:solidFill>
                  <a:srgbClr val="0B0B0B"/>
                </a:solidFill>
                <a:latin typeface="Calibri"/>
              </a:rPr>
              <a:t>Model</a:t>
            </a:r>
          </a:p>
        </p:txBody>
      </p:sp>
      <p:sp>
        <p:nvSpPr>
          <p:cNvPr id="25" name="TextBox 24"/>
          <p:cNvSpPr txBox="1"/>
          <p:nvPr/>
        </p:nvSpPr>
        <p:spPr>
          <a:xfrm>
            <a:off x="9921240" y="2697480"/>
            <a:ext cx="1600199" cy="1143000"/>
          </a:xfrm>
          <a:prstGeom prst="rect">
            <a:avLst/>
          </a:prstGeom>
          <a:noFill/>
        </p:spPr>
        <p:txBody>
          <a:bodyPr wrap="square" lIns="0" rIns="0" tIns="0" bIns="0" anchor="t">
            <a:spAutoFit/>
          </a:bodyPr>
          <a:lstStyle/>
          <a:p>
            <a:pPr algn="ctr">
              <a:lnSpc>
                <a:spcPct val="100000"/>
              </a:lnSpc>
              <a:spcAft>
                <a:spcPts val="600"/>
              </a:spcAft>
            </a:pPr>
            <a:r>
              <a:rPr sz="1500" b="0">
                <a:solidFill>
                  <a:srgbClr val="52514E"/>
                </a:solidFill>
                <a:latin typeface="Calibri"/>
              </a:rPr>
              <a:t>predicts confusion from eye movements</a:t>
            </a:r>
          </a:p>
        </p:txBody>
      </p:sp>
      <p:sp>
        <p:nvSpPr>
          <p:cNvPr id="26" name="Rounded Rectangle 25"/>
          <p:cNvSpPr/>
          <p:nvPr/>
        </p:nvSpPr>
        <p:spPr>
          <a:xfrm>
            <a:off x="640080" y="4389120"/>
            <a:ext cx="10972800" cy="150876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4535424"/>
            <a:ext cx="10607040" cy="1234439"/>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Limitation of the screenshot trick (no Tobii SDK)</a:t>
            </a:r>
          </a:p>
          <a:p>
            <a:pPr algn="l">
              <a:lnSpc>
                <a:spcPct val="100000"/>
              </a:lnSpc>
              <a:spcAft>
                <a:spcPts val="300"/>
              </a:spcAft>
            </a:pPr>
            <a:r>
              <a:rPr sz="1600" b="0">
                <a:solidFill>
                  <a:srgbClr val="52514E"/>
                </a:solidFill>
                <a:latin typeface="Calibri"/>
              </a:rPr>
              <a:t>Gaze is read off the screen, so we get 5–30 samples per second instead of the tracker's 60+, real saccades (20–80 ms) fall between samples, and pupil size — a strong confusion signal — is never measured.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BACKGROUND</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Key terms used in this talk</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4</a:t>
            </a:r>
          </a:p>
        </p:txBody>
      </p:sp>
      <p:sp>
        <p:nvSpPr>
          <p:cNvPr id="7" name="Rounded Rectangle 6"/>
          <p:cNvSpPr/>
          <p:nvPr/>
        </p:nvSpPr>
        <p:spPr>
          <a:xfrm>
            <a:off x="640080" y="1691640"/>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10512"/>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Fixation</a:t>
            </a:r>
          </a:p>
          <a:p>
            <a:pPr algn="l">
              <a:lnSpc>
                <a:spcPct val="100000"/>
              </a:lnSpc>
              <a:spcAft>
                <a:spcPts val="600"/>
              </a:spcAft>
            </a:pPr>
            <a:r>
              <a:rPr sz="1400" b="0">
                <a:solidFill>
                  <a:srgbClr val="52514E"/>
                </a:solidFill>
                <a:latin typeface="Calibri"/>
              </a:rPr>
              <a:t>the eye holds still on one spot (here: ≥ 0.25 s within 25 px)</a:t>
            </a:r>
          </a:p>
        </p:txBody>
      </p:sp>
      <p:sp>
        <p:nvSpPr>
          <p:cNvPr id="9" name="Rounded Rectangle 8"/>
          <p:cNvSpPr/>
          <p:nvPr/>
        </p:nvSpPr>
        <p:spPr>
          <a:xfrm>
            <a:off x="6263640" y="1691640"/>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10512"/>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Saccade</a:t>
            </a:r>
          </a:p>
          <a:p>
            <a:pPr algn="l">
              <a:lnSpc>
                <a:spcPct val="100000"/>
              </a:lnSpc>
              <a:spcAft>
                <a:spcPts val="600"/>
              </a:spcAft>
            </a:pPr>
            <a:r>
              <a:rPr sz="1400" b="0">
                <a:solidFill>
                  <a:srgbClr val="52514E"/>
                </a:solidFill>
                <a:latin typeface="Calibri"/>
              </a:rPr>
              <a:t>the fast jump between two fixations</a:t>
            </a:r>
          </a:p>
        </p:txBody>
      </p:sp>
      <p:sp>
        <p:nvSpPr>
          <p:cNvPr id="11" name="Rounded Rectangle 10"/>
          <p:cNvSpPr/>
          <p:nvPr/>
        </p:nvSpPr>
        <p:spPr>
          <a:xfrm>
            <a:off x="640080" y="2788920"/>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907791"/>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Regression</a:t>
            </a:r>
          </a:p>
          <a:p>
            <a:pPr algn="l">
              <a:lnSpc>
                <a:spcPct val="100000"/>
              </a:lnSpc>
              <a:spcAft>
                <a:spcPts val="600"/>
              </a:spcAft>
            </a:pPr>
            <a:r>
              <a:rPr sz="1400" b="0">
                <a:solidFill>
                  <a:srgbClr val="52514E"/>
                </a:solidFill>
                <a:latin typeface="Calibri"/>
              </a:rPr>
              <a:t>a jump backwards — left on the same line or up to an earlier line (re-reading)</a:t>
            </a:r>
          </a:p>
        </p:txBody>
      </p:sp>
      <p:sp>
        <p:nvSpPr>
          <p:cNvPr id="13" name="Rounded Rectangle 12"/>
          <p:cNvSpPr/>
          <p:nvPr/>
        </p:nvSpPr>
        <p:spPr>
          <a:xfrm>
            <a:off x="6263640" y="2788920"/>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907791"/>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AOI</a:t>
            </a:r>
          </a:p>
          <a:p>
            <a:pPr algn="l">
              <a:lnSpc>
                <a:spcPct val="100000"/>
              </a:lnSpc>
              <a:spcAft>
                <a:spcPts val="600"/>
              </a:spcAft>
            </a:pPr>
            <a:r>
              <a:rPr sz="1400" b="0">
                <a:solidFill>
                  <a:srgbClr val="52514E"/>
                </a:solidFill>
                <a:latin typeface="Calibri"/>
              </a:rPr>
              <a:t>“area of interest”: a box around one text line, found by OCR</a:t>
            </a:r>
          </a:p>
        </p:txBody>
      </p:sp>
      <p:sp>
        <p:nvSpPr>
          <p:cNvPr id="15" name="Rounded Rectangle 14"/>
          <p:cNvSpPr/>
          <p:nvPr/>
        </p:nvSpPr>
        <p:spPr>
          <a:xfrm>
            <a:off x="640080" y="3886200"/>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005072"/>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Confusion click</a:t>
            </a:r>
          </a:p>
          <a:p>
            <a:pPr algn="l">
              <a:lnSpc>
                <a:spcPct val="100000"/>
              </a:lnSpc>
              <a:spcAft>
                <a:spcPts val="600"/>
              </a:spcAft>
            </a:pPr>
            <a:r>
              <a:rPr sz="1400" b="0">
                <a:solidFill>
                  <a:srgbClr val="52514E"/>
                </a:solidFill>
                <a:latin typeface="Calibri"/>
              </a:rPr>
              <a:t>the reader presses “Yes (Confused)” — our ground truth</a:t>
            </a:r>
          </a:p>
        </p:txBody>
      </p:sp>
      <p:sp>
        <p:nvSpPr>
          <p:cNvPr id="17" name="Rounded Rectangle 16"/>
          <p:cNvSpPr/>
          <p:nvPr/>
        </p:nvSpPr>
        <p:spPr>
          <a:xfrm>
            <a:off x="6263640" y="3886200"/>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005072"/>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ROC-AUC</a:t>
            </a:r>
          </a:p>
          <a:p>
            <a:pPr algn="l">
              <a:lnSpc>
                <a:spcPct val="100000"/>
              </a:lnSpc>
              <a:spcAft>
                <a:spcPts val="600"/>
              </a:spcAft>
            </a:pPr>
            <a:r>
              <a:rPr sz="1400" b="0">
                <a:solidFill>
                  <a:srgbClr val="52514E"/>
                </a:solidFill>
                <a:latin typeface="Calibri"/>
              </a:rPr>
              <a:t>how well confused moments are ranked above normal ones: 0.5 = guessing, 1.0 = perfect</a:t>
            </a:r>
          </a:p>
        </p:txBody>
      </p:sp>
      <p:sp>
        <p:nvSpPr>
          <p:cNvPr id="19" name="Rounded Rectangle 18"/>
          <p:cNvSpPr/>
          <p:nvPr/>
        </p:nvSpPr>
        <p:spPr>
          <a:xfrm>
            <a:off x="640080" y="4983479"/>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102351"/>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PR-AUC</a:t>
            </a:r>
          </a:p>
          <a:p>
            <a:pPr algn="l">
              <a:lnSpc>
                <a:spcPct val="100000"/>
              </a:lnSpc>
              <a:spcAft>
                <a:spcPts val="600"/>
              </a:spcAft>
            </a:pPr>
            <a:r>
              <a:rPr sz="1400" b="0">
                <a:solidFill>
                  <a:srgbClr val="52514E"/>
                </a:solidFill>
                <a:latin typeface="Calibri"/>
              </a:rPr>
              <a:t>how well the rare confused moments are found; compare with its chance value</a:t>
            </a:r>
          </a:p>
        </p:txBody>
      </p:sp>
      <p:sp>
        <p:nvSpPr>
          <p:cNvPr id="21" name="Rounded Rectangle 20"/>
          <p:cNvSpPr/>
          <p:nvPr/>
        </p:nvSpPr>
        <p:spPr>
          <a:xfrm>
            <a:off x="6263640" y="4983479"/>
            <a:ext cx="5394960" cy="9601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5102351"/>
            <a:ext cx="5029200" cy="777240"/>
          </a:xfrm>
          <a:prstGeom prst="rect">
            <a:avLst/>
          </a:prstGeom>
          <a:noFill/>
        </p:spPr>
        <p:txBody>
          <a:bodyPr wrap="square" lIns="0" rIns="0" tIns="0" bIns="0" anchor="t">
            <a:spAutoFit/>
          </a:bodyPr>
          <a:lstStyle/>
          <a:p>
            <a:pPr algn="l">
              <a:lnSpc>
                <a:spcPct val="100000"/>
              </a:lnSpc>
              <a:spcAft>
                <a:spcPts val="100"/>
              </a:spcAft>
            </a:pPr>
            <a:r>
              <a:rPr sz="1700" b="1">
                <a:solidFill>
                  <a:srgbClr val="2A78D6"/>
                </a:solidFill>
                <a:latin typeface="Calibri"/>
              </a:rPr>
              <a:t>Leave-one-session-out</a:t>
            </a:r>
          </a:p>
          <a:p>
            <a:pPr algn="l">
              <a:lnSpc>
                <a:spcPct val="100000"/>
              </a:lnSpc>
              <a:spcAft>
                <a:spcPts val="600"/>
              </a:spcAft>
            </a:pPr>
            <a:r>
              <a:rPr sz="1400" b="0">
                <a:solidFill>
                  <a:srgbClr val="52514E"/>
                </a:solidFill>
                <a:latin typeface="Calibri"/>
              </a:rPr>
              <a:t>train on all sessions but one, test on the unseen one, repeat for each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1 · REPRODUCE</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Step 1 — I reproduced the Tobii pipeline end to end</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5</a:t>
            </a:r>
          </a:p>
        </p:txBody>
      </p:sp>
      <p:sp>
        <p:nvSpPr>
          <p:cNvPr id="7" name="TextBox 6"/>
          <p:cNvSpPr txBox="1"/>
          <p:nvPr/>
        </p:nvSpPr>
        <p:spPr>
          <a:xfrm>
            <a:off x="640080" y="1691640"/>
            <a:ext cx="5120640" cy="41148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What I ran on the lab PC</a:t>
            </a:r>
          </a:p>
        </p:txBody>
      </p:sp>
      <p:sp>
        <p:nvSpPr>
          <p:cNvPr id="8" name="TextBox 7"/>
          <p:cNvSpPr txBox="1"/>
          <p:nvPr/>
        </p:nvSpPr>
        <p:spPr>
          <a:xfrm>
            <a:off x="640080" y="2194560"/>
            <a:ext cx="5120640" cy="3931920"/>
          </a:xfrm>
          <a:prstGeom prst="rect">
            <a:avLst/>
          </a:prstGeom>
          <a:noFill/>
        </p:spPr>
        <p:txBody>
          <a:bodyPr wrap="square" lIns="0" rIns="0" tIns="0" bIns="0" anchor="t">
            <a:spAutoFit/>
          </a:bodyPr>
          <a:lstStyle/>
          <a:p>
            <a:pPr algn="l" marL="237744" indent="-237744">
              <a:lnSpc>
                <a:spcPct val="100000"/>
              </a:lnSpc>
              <a:spcAft>
                <a:spcPts val="800"/>
              </a:spcAft>
              <a:buClr>
                <a:srgbClr val="2a78d6"/>
              </a:buClr>
              <a:buChar char="•"/>
            </a:pPr>
            <a:r>
              <a:rPr sz="1700" b="0">
                <a:solidFill>
                  <a:srgbClr val="0B0B0B"/>
                </a:solidFill>
                <a:latin typeface="Calibri"/>
              </a:rPr>
              <a:t>Set up Python, Tesseract OCR, Tobii Experience and Ghost</a:t>
            </a:r>
          </a:p>
          <a:p>
            <a:pPr algn="l" marL="237744" indent="-237744">
              <a:lnSpc>
                <a:spcPct val="100000"/>
              </a:lnSpc>
              <a:spcAft>
                <a:spcPts val="800"/>
              </a:spcAft>
              <a:buClr>
                <a:srgbClr val="2a78d6"/>
              </a:buClr>
              <a:buChar char="•"/>
            </a:pPr>
            <a:r>
              <a:rPr sz="1700" b="0">
                <a:solidFill>
                  <a:srgbClr val="0B0B0B"/>
                </a:solidFill>
                <a:latin typeface="Calibri"/>
              </a:rPr>
              <a:t>Verified the green-bubble detection: found in </a:t>
            </a:r>
            <a:r>
              <a:rPr sz="1700" b="1">
                <a:solidFill>
                  <a:srgbClr val="0B0B0B"/>
                </a:solidFill>
                <a:latin typeface="Calibri"/>
              </a:rPr>
              <a:t>10 / 10</a:t>
            </a:r>
            <a:r>
              <a:rPr sz="1700" b="0">
                <a:solidFill>
                  <a:srgbClr val="0B0B0B"/>
                </a:solidFill>
                <a:latin typeface="Calibri"/>
              </a:rPr>
              <a:t> test frames</a:t>
            </a:r>
          </a:p>
          <a:p>
            <a:pPr algn="l" marL="237744" indent="-237744">
              <a:lnSpc>
                <a:spcPct val="100000"/>
              </a:lnSpc>
              <a:spcAft>
                <a:spcPts val="800"/>
              </a:spcAft>
              <a:buClr>
                <a:srgbClr val="2a78d6"/>
              </a:buClr>
              <a:buChar char="•"/>
            </a:pPr>
            <a:r>
              <a:rPr sz="1700" b="0">
                <a:solidFill>
                  <a:srgbClr val="0B0B0B"/>
                </a:solidFill>
                <a:latin typeface="Calibri"/>
              </a:rPr>
              <a:t>Extracted text-line boxes, recorded a session, labelled it</a:t>
            </a:r>
          </a:p>
          <a:p>
            <a:pPr algn="l" marL="237744" indent="-237744">
              <a:lnSpc>
                <a:spcPct val="100000"/>
              </a:lnSpc>
              <a:spcAft>
                <a:spcPts val="800"/>
              </a:spcAft>
              <a:buClr>
                <a:srgbClr val="2a78d6"/>
              </a:buClr>
              <a:buChar char="•"/>
            </a:pPr>
            <a:r>
              <a:rPr sz="1700" b="0">
                <a:solidFill>
                  <a:srgbClr val="0B0B0B"/>
                </a:solidFill>
                <a:latin typeface="Calibri"/>
              </a:rPr>
              <a:t>Ran the live prediction demo with the shipped model</a:t>
            </a:r>
          </a:p>
          <a:p>
            <a:pPr algn="l" marL="237744" indent="-237744">
              <a:lnSpc>
                <a:spcPct val="100000"/>
              </a:lnSpc>
              <a:spcAft>
                <a:spcPts val="800"/>
              </a:spcAft>
              <a:buClr>
                <a:srgbClr val="2a78d6"/>
              </a:buClr>
              <a:buChar char="•"/>
            </a:pPr>
            <a:r>
              <a:rPr sz="1700" b="0">
                <a:solidFill>
                  <a:srgbClr val="0B0B0B"/>
                </a:solidFill>
                <a:latin typeface="Calibri"/>
              </a:rPr>
              <a:t>Installed and built the webcam app (camera test pending — no webcam yet)</a:t>
            </a:r>
          </a:p>
        </p:txBody>
      </p:sp>
      <p:sp>
        <p:nvSpPr>
          <p:cNvPr id="9" name="TextBox 8"/>
          <p:cNvSpPr txBox="1"/>
          <p:nvPr/>
        </p:nvSpPr>
        <p:spPr>
          <a:xfrm>
            <a:off x="6217920" y="1691640"/>
            <a:ext cx="5394960" cy="411480"/>
          </a:xfrm>
          <a:prstGeom prst="rect">
            <a:avLst/>
          </a:prstGeom>
          <a:noFill/>
        </p:spPr>
        <p:txBody>
          <a:bodyPr wrap="square" lIns="0" rIns="0" tIns="0" bIns="0" anchor="t">
            <a:spAutoFit/>
          </a:bodyPr>
          <a:lstStyle/>
          <a:p>
            <a:pPr algn="l">
              <a:lnSpc>
                <a:spcPct val="100000"/>
              </a:lnSpc>
              <a:spcAft>
                <a:spcPts val="600"/>
              </a:spcAft>
            </a:pPr>
            <a:r>
              <a:rPr sz="1900" b="1">
                <a:solidFill>
                  <a:srgbClr val="0B0B0B"/>
                </a:solidFill>
                <a:latin typeface="Calibri"/>
              </a:rPr>
              <a:t>Four traps the README didn't mention</a:t>
            </a:r>
          </a:p>
        </p:txBody>
      </p:sp>
      <p:sp>
        <p:nvSpPr>
          <p:cNvPr id="10" name="Rounded Rectangle 9"/>
          <p:cNvSpPr/>
          <p:nvPr/>
        </p:nvSpPr>
        <p:spPr>
          <a:xfrm>
            <a:off x="6217920" y="2194560"/>
            <a:ext cx="5394960" cy="86868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340864"/>
            <a:ext cx="5029200" cy="594359"/>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Recording appends to old files</a:t>
            </a:r>
          </a:p>
          <a:p>
            <a:pPr algn="l">
              <a:lnSpc>
                <a:spcPct val="100000"/>
              </a:lnSpc>
              <a:spcAft>
                <a:spcPts val="300"/>
              </a:spcAft>
            </a:pPr>
            <a:r>
              <a:rPr sz="1400" b="0">
                <a:solidFill>
                  <a:srgbClr val="52514E"/>
                </a:solidFill>
                <a:latin typeface="Calibri"/>
              </a:rPr>
              <a:t>new sessions would mix with old data</a:t>
            </a:r>
          </a:p>
        </p:txBody>
      </p:sp>
      <p:sp>
        <p:nvSpPr>
          <p:cNvPr id="12" name="Rounded Rectangle 11"/>
          <p:cNvSpPr/>
          <p:nvPr/>
        </p:nvSpPr>
        <p:spPr>
          <a:xfrm>
            <a:off x="6217920" y="3182112"/>
            <a:ext cx="5394960" cy="86868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28416"/>
            <a:ext cx="5029200" cy="594359"/>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OCR screenshot is instant</a:t>
            </a:r>
          </a:p>
          <a:p>
            <a:pPr algn="l">
              <a:lnSpc>
                <a:spcPct val="100000"/>
              </a:lnSpc>
              <a:spcAft>
                <a:spcPts val="300"/>
              </a:spcAft>
            </a:pPr>
            <a:r>
              <a:rPr sz="1400" b="0">
                <a:solidFill>
                  <a:srgbClr val="52514E"/>
                </a:solidFill>
                <a:latin typeface="Calibri"/>
              </a:rPr>
              <a:t>it captured the terminal, not the text</a:t>
            </a:r>
          </a:p>
        </p:txBody>
      </p:sp>
      <p:sp>
        <p:nvSpPr>
          <p:cNvPr id="14" name="Rounded Rectangle 13"/>
          <p:cNvSpPr/>
          <p:nvPr/>
        </p:nvSpPr>
        <p:spPr>
          <a:xfrm>
            <a:off x="6217920" y="4169664"/>
            <a:ext cx="5394960" cy="86868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315968"/>
            <a:ext cx="5029200" cy="594359"/>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label.py read the wrong file</a:t>
            </a:r>
          </a:p>
          <a:p>
            <a:pPr algn="l">
              <a:lnSpc>
                <a:spcPct val="100000"/>
              </a:lnSpc>
              <a:spcAft>
                <a:spcPts val="300"/>
              </a:spcAft>
            </a:pPr>
            <a:r>
              <a:rPr sz="1400" b="0">
                <a:solidFill>
                  <a:srgbClr val="52514E"/>
                </a:solidFill>
                <a:latin typeface="Calibri"/>
              </a:rPr>
              <a:t>an old file, not the new session</a:t>
            </a:r>
          </a:p>
        </p:txBody>
      </p:sp>
      <p:sp>
        <p:nvSpPr>
          <p:cNvPr id="16" name="Rounded Rectangle 15"/>
          <p:cNvSpPr/>
          <p:nvPr/>
        </p:nvSpPr>
        <p:spPr>
          <a:xfrm>
            <a:off x="6217920" y="5157216"/>
            <a:ext cx="5394960" cy="86868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5303520"/>
            <a:ext cx="5029200" cy="594359"/>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Shipped test file → crash</a:t>
            </a:r>
          </a:p>
          <a:p>
            <a:pPr algn="l">
              <a:lnSpc>
                <a:spcPct val="100000"/>
              </a:lnSpc>
              <a:spcAft>
                <a:spcPts val="300"/>
              </a:spcAft>
            </a:pPr>
            <a:r>
              <a:rPr sz="1400" b="0">
                <a:solidFill>
                  <a:srgbClr val="52514E"/>
                </a:solidFill>
                <a:latin typeface="Calibri"/>
              </a:rPr>
              <a:t>19 text lines, but the model needs exactly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2 · AUDIT</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Step 2 — What data the previous intern left</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6</a:t>
            </a:r>
          </a:p>
        </p:txBody>
      </p:sp>
      <p:sp>
        <p:nvSpPr>
          <p:cNvPr id="7" name="Rounded Rectangle 6"/>
          <p:cNvSpPr/>
          <p:nvPr/>
        </p:nvSpPr>
        <p:spPr>
          <a:xfrm>
            <a:off x="640080" y="1783080"/>
            <a:ext cx="2057400" cy="23774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20240"/>
            <a:ext cx="1691640" cy="685800"/>
          </a:xfrm>
          <a:prstGeom prst="rect">
            <a:avLst/>
          </a:prstGeom>
          <a:noFill/>
        </p:spPr>
        <p:txBody>
          <a:bodyPr wrap="square" lIns="0" rIns="0" tIns="0" bIns="0" anchor="t">
            <a:spAutoFit/>
          </a:bodyPr>
          <a:lstStyle/>
          <a:p>
            <a:pPr algn="l">
              <a:lnSpc>
                <a:spcPct val="100000"/>
              </a:lnSpc>
              <a:spcAft>
                <a:spcPts val="600"/>
              </a:spcAft>
            </a:pPr>
            <a:r>
              <a:rPr sz="3400" b="1">
                <a:solidFill>
                  <a:srgbClr val="2A78D6"/>
                </a:solidFill>
                <a:latin typeface="Calibri"/>
              </a:rPr>
              <a:t>20</a:t>
            </a:r>
          </a:p>
        </p:txBody>
      </p:sp>
      <p:sp>
        <p:nvSpPr>
          <p:cNvPr id="9" name="TextBox 8"/>
          <p:cNvSpPr txBox="1"/>
          <p:nvPr/>
        </p:nvSpPr>
        <p:spPr>
          <a:xfrm>
            <a:off x="822959" y="2651760"/>
            <a:ext cx="1691640" cy="1417320"/>
          </a:xfrm>
          <a:prstGeom prst="rect">
            <a:avLst/>
          </a:prstGeom>
          <a:noFill/>
        </p:spPr>
        <p:txBody>
          <a:bodyPr wrap="square" lIns="0" rIns="0" tIns="0" bIns="0" anchor="t">
            <a:spAutoFit/>
          </a:bodyPr>
          <a:lstStyle/>
          <a:p>
            <a:pPr algn="l">
              <a:lnSpc>
                <a:spcPct val="100000"/>
              </a:lnSpc>
              <a:spcAft>
                <a:spcPts val="600"/>
              </a:spcAft>
            </a:pPr>
            <a:r>
              <a:rPr sz="1400" b="0">
                <a:solidFill>
                  <a:srgbClr val="52514E"/>
                </a:solidFill>
                <a:latin typeface="Calibri"/>
              </a:rPr>
              <a:t>sessions (July 2025), a different text page in each</a:t>
            </a:r>
          </a:p>
        </p:txBody>
      </p:sp>
      <p:sp>
        <p:nvSpPr>
          <p:cNvPr id="10" name="Rounded Rectangle 9"/>
          <p:cNvSpPr/>
          <p:nvPr/>
        </p:nvSpPr>
        <p:spPr>
          <a:xfrm>
            <a:off x="2862072" y="1783080"/>
            <a:ext cx="2057400" cy="23774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44952" y="1920240"/>
            <a:ext cx="1691640" cy="685800"/>
          </a:xfrm>
          <a:prstGeom prst="rect">
            <a:avLst/>
          </a:prstGeom>
          <a:noFill/>
        </p:spPr>
        <p:txBody>
          <a:bodyPr wrap="square" lIns="0" rIns="0" tIns="0" bIns="0" anchor="t">
            <a:spAutoFit/>
          </a:bodyPr>
          <a:lstStyle/>
          <a:p>
            <a:pPr algn="l">
              <a:lnSpc>
                <a:spcPct val="100000"/>
              </a:lnSpc>
              <a:spcAft>
                <a:spcPts val="600"/>
              </a:spcAft>
            </a:pPr>
            <a:r>
              <a:rPr sz="3400" b="1">
                <a:solidFill>
                  <a:srgbClr val="2A78D6"/>
                </a:solidFill>
                <a:latin typeface="Calibri"/>
              </a:rPr>
              <a:t>1,553</a:t>
            </a:r>
          </a:p>
        </p:txBody>
      </p:sp>
      <p:sp>
        <p:nvSpPr>
          <p:cNvPr id="12" name="TextBox 11"/>
          <p:cNvSpPr txBox="1"/>
          <p:nvPr/>
        </p:nvSpPr>
        <p:spPr>
          <a:xfrm>
            <a:off x="3044952" y="2651760"/>
            <a:ext cx="1691640" cy="1417320"/>
          </a:xfrm>
          <a:prstGeom prst="rect">
            <a:avLst/>
          </a:prstGeom>
          <a:noFill/>
        </p:spPr>
        <p:txBody>
          <a:bodyPr wrap="square" lIns="0" rIns="0" tIns="0" bIns="0" anchor="t">
            <a:spAutoFit/>
          </a:bodyPr>
          <a:lstStyle/>
          <a:p>
            <a:pPr algn="l">
              <a:lnSpc>
                <a:spcPct val="100000"/>
              </a:lnSpc>
              <a:spcAft>
                <a:spcPts val="600"/>
              </a:spcAft>
            </a:pPr>
            <a:r>
              <a:rPr sz="1400" b="0">
                <a:solidFill>
                  <a:srgbClr val="52514E"/>
                </a:solidFill>
                <a:latin typeface="Calibri"/>
              </a:rPr>
              <a:t>fixations — every one maps to exactly one session</a:t>
            </a:r>
          </a:p>
        </p:txBody>
      </p:sp>
      <p:sp>
        <p:nvSpPr>
          <p:cNvPr id="13" name="Rounded Rectangle 12"/>
          <p:cNvSpPr/>
          <p:nvPr/>
        </p:nvSpPr>
        <p:spPr>
          <a:xfrm>
            <a:off x="5084064" y="1783080"/>
            <a:ext cx="2057400" cy="23774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6944" y="1920240"/>
            <a:ext cx="1691640" cy="685800"/>
          </a:xfrm>
          <a:prstGeom prst="rect">
            <a:avLst/>
          </a:prstGeom>
          <a:noFill/>
        </p:spPr>
        <p:txBody>
          <a:bodyPr wrap="square" lIns="0" rIns="0" tIns="0" bIns="0" anchor="t">
            <a:spAutoFit/>
          </a:bodyPr>
          <a:lstStyle/>
          <a:p>
            <a:pPr algn="l">
              <a:lnSpc>
                <a:spcPct val="100000"/>
              </a:lnSpc>
              <a:spcAft>
                <a:spcPts val="600"/>
              </a:spcAft>
            </a:pPr>
            <a:r>
              <a:rPr sz="3400" b="1">
                <a:solidFill>
                  <a:srgbClr val="2A78D6"/>
                </a:solidFill>
                <a:latin typeface="Calibri"/>
              </a:rPr>
              <a:t>67</a:t>
            </a:r>
          </a:p>
        </p:txBody>
      </p:sp>
      <p:sp>
        <p:nvSpPr>
          <p:cNvPr id="15" name="TextBox 14"/>
          <p:cNvSpPr txBox="1"/>
          <p:nvPr/>
        </p:nvSpPr>
        <p:spPr>
          <a:xfrm>
            <a:off x="5266944" y="2651760"/>
            <a:ext cx="1691640" cy="1417320"/>
          </a:xfrm>
          <a:prstGeom prst="rect">
            <a:avLst/>
          </a:prstGeom>
          <a:noFill/>
        </p:spPr>
        <p:txBody>
          <a:bodyPr wrap="square" lIns="0" rIns="0" tIns="0" bIns="0" anchor="t">
            <a:spAutoFit/>
          </a:bodyPr>
          <a:lstStyle/>
          <a:p>
            <a:pPr algn="l">
              <a:lnSpc>
                <a:spcPct val="100000"/>
              </a:lnSpc>
              <a:spcAft>
                <a:spcPts val="600"/>
              </a:spcAft>
            </a:pPr>
            <a:r>
              <a:rPr sz="1400" b="0">
                <a:solidFill>
                  <a:srgbClr val="52514E"/>
                </a:solidFill>
                <a:latin typeface="Calibri"/>
              </a:rPr>
              <a:t>confusion clicks, all with exact timestamps → relabelling by time is possible</a:t>
            </a:r>
          </a:p>
        </p:txBody>
      </p:sp>
      <p:sp>
        <p:nvSpPr>
          <p:cNvPr id="16" name="Rounded Rectangle 15"/>
          <p:cNvSpPr/>
          <p:nvPr/>
        </p:nvSpPr>
        <p:spPr>
          <a:xfrm>
            <a:off x="7306056" y="1783080"/>
            <a:ext cx="2057400" cy="23774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8936" y="1920240"/>
            <a:ext cx="1691640" cy="685800"/>
          </a:xfrm>
          <a:prstGeom prst="rect">
            <a:avLst/>
          </a:prstGeom>
          <a:noFill/>
        </p:spPr>
        <p:txBody>
          <a:bodyPr wrap="square" lIns="0" rIns="0" tIns="0" bIns="0" anchor="t">
            <a:spAutoFit/>
          </a:bodyPr>
          <a:lstStyle/>
          <a:p>
            <a:pPr algn="l">
              <a:lnSpc>
                <a:spcPct val="100000"/>
              </a:lnSpc>
              <a:spcAft>
                <a:spcPts val="600"/>
              </a:spcAft>
            </a:pPr>
            <a:r>
              <a:rPr sz="3400" b="1">
                <a:solidFill>
                  <a:srgbClr val="EB6834"/>
                </a:solidFill>
                <a:latin typeface="Calibri"/>
              </a:rPr>
              <a:t>5–8 Hz</a:t>
            </a:r>
          </a:p>
        </p:txBody>
      </p:sp>
      <p:sp>
        <p:nvSpPr>
          <p:cNvPr id="18" name="TextBox 17"/>
          <p:cNvSpPr txBox="1"/>
          <p:nvPr/>
        </p:nvSpPr>
        <p:spPr>
          <a:xfrm>
            <a:off x="7488936" y="2651760"/>
            <a:ext cx="1691640" cy="1417320"/>
          </a:xfrm>
          <a:prstGeom prst="rect">
            <a:avLst/>
          </a:prstGeom>
          <a:noFill/>
        </p:spPr>
        <p:txBody>
          <a:bodyPr wrap="square" lIns="0" rIns="0" tIns="0" bIns="0" anchor="t">
            <a:spAutoFit/>
          </a:bodyPr>
          <a:lstStyle/>
          <a:p>
            <a:pPr algn="l">
              <a:lnSpc>
                <a:spcPct val="100000"/>
              </a:lnSpc>
              <a:spcAft>
                <a:spcPts val="600"/>
              </a:spcAft>
            </a:pPr>
            <a:r>
              <a:rPr sz="1400" b="0">
                <a:solidFill>
                  <a:srgbClr val="52514E"/>
                </a:solidFill>
                <a:latin typeface="Calibri"/>
              </a:rPr>
              <a:t>sampling rate: only 2–3 samples per fixation</a:t>
            </a:r>
          </a:p>
        </p:txBody>
      </p:sp>
      <p:sp>
        <p:nvSpPr>
          <p:cNvPr id="19" name="Rounded Rectangle 18"/>
          <p:cNvSpPr/>
          <p:nvPr/>
        </p:nvSpPr>
        <p:spPr>
          <a:xfrm>
            <a:off x="9528048" y="1783080"/>
            <a:ext cx="2057400" cy="23774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0928" y="1920240"/>
            <a:ext cx="1691640" cy="685800"/>
          </a:xfrm>
          <a:prstGeom prst="rect">
            <a:avLst/>
          </a:prstGeom>
          <a:noFill/>
        </p:spPr>
        <p:txBody>
          <a:bodyPr wrap="square" lIns="0" rIns="0" tIns="0" bIns="0" anchor="t">
            <a:spAutoFit/>
          </a:bodyPr>
          <a:lstStyle/>
          <a:p>
            <a:pPr algn="l">
              <a:lnSpc>
                <a:spcPct val="100000"/>
              </a:lnSpc>
              <a:spcAft>
                <a:spcPts val="600"/>
              </a:spcAft>
            </a:pPr>
            <a:r>
              <a:rPr sz="3400" b="1">
                <a:solidFill>
                  <a:srgbClr val="EB6834"/>
                </a:solidFill>
                <a:latin typeface="Calibri"/>
              </a:rPr>
              <a:t>Unknown</a:t>
            </a:r>
          </a:p>
        </p:txBody>
      </p:sp>
      <p:sp>
        <p:nvSpPr>
          <p:cNvPr id="21" name="TextBox 20"/>
          <p:cNvSpPr txBox="1"/>
          <p:nvPr/>
        </p:nvSpPr>
        <p:spPr>
          <a:xfrm>
            <a:off x="9710928" y="2651760"/>
            <a:ext cx="1691640" cy="1417320"/>
          </a:xfrm>
          <a:prstGeom prst="rect">
            <a:avLst/>
          </a:prstGeom>
          <a:noFill/>
        </p:spPr>
        <p:txBody>
          <a:bodyPr wrap="square" lIns="0" rIns="0" tIns="0" bIns="0" anchor="t">
            <a:spAutoFit/>
          </a:bodyPr>
          <a:lstStyle/>
          <a:p>
            <a:pPr algn="l">
              <a:lnSpc>
                <a:spcPct val="100000"/>
              </a:lnSpc>
              <a:spcAft>
                <a:spcPts val="600"/>
              </a:spcAft>
            </a:pPr>
            <a:r>
              <a:rPr sz="1400" b="0">
                <a:solidFill>
                  <a:srgbClr val="52514E"/>
                </a:solidFill>
                <a:latin typeface="Calibri"/>
              </a:rPr>
              <a:t>who read the texts — not recorded, nobody in the lab knows</a:t>
            </a:r>
          </a:p>
        </p:txBody>
      </p:sp>
      <p:sp>
        <p:nvSpPr>
          <p:cNvPr id="22" name="Rounded Rectangle 21"/>
          <p:cNvSpPr/>
          <p:nvPr/>
        </p:nvSpPr>
        <p:spPr>
          <a:xfrm>
            <a:off x="640080" y="4526280"/>
            <a:ext cx="10972800" cy="141732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4672584"/>
            <a:ext cx="10607040" cy="1143000"/>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Hidden problem: all 20 sessions were appended into one file</a:t>
            </a:r>
          </a:p>
          <a:p>
            <a:pPr algn="l">
              <a:lnSpc>
                <a:spcPct val="100000"/>
              </a:lnSpc>
              <a:spcAft>
                <a:spcPts val="300"/>
              </a:spcAft>
            </a:pPr>
            <a:r>
              <a:rPr sz="1600" b="0">
                <a:solidFill>
                  <a:srgbClr val="52514E"/>
                </a:solidFill>
                <a:latin typeface="Calibri"/>
              </a:rPr>
              <a:t>They all used the first session's column names, although each session had its own page and its own 18 line boxes. Three rows even had an extra column, so the file could not be read normally.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2 · AUDIT</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The old model learned where confusing lines were — not how confused eyes move</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7</a:t>
            </a:r>
          </a:p>
        </p:txBody>
      </p:sp>
      <p:pic>
        <p:nvPicPr>
          <p:cNvPr id="7" name="Picture 6" descr="old_model_reliance.png"/>
          <p:cNvPicPr>
            <a:picLocks noChangeAspect="1"/>
          </p:cNvPicPr>
          <p:nvPr/>
        </p:nvPicPr>
        <p:blipFill>
          <a:blip r:embed="rId3"/>
          <a:stretch>
            <a:fillRect/>
          </a:stretch>
        </p:blipFill>
        <p:spPr>
          <a:xfrm>
            <a:off x="640080" y="1828800"/>
            <a:ext cx="5760720" cy="1781515"/>
          </a:xfrm>
          <a:prstGeom prst="rect">
            <a:avLst/>
          </a:prstGeom>
        </p:spPr>
      </p:pic>
      <p:sp>
        <p:nvSpPr>
          <p:cNvPr id="8" name="TextBox 7"/>
          <p:cNvSpPr txBox="1"/>
          <p:nvPr/>
        </p:nvSpPr>
        <p:spPr>
          <a:xfrm>
            <a:off x="6766560" y="1783080"/>
            <a:ext cx="4846320" cy="4297680"/>
          </a:xfrm>
          <a:prstGeom prst="rect">
            <a:avLst/>
          </a:prstGeom>
          <a:noFill/>
        </p:spPr>
        <p:txBody>
          <a:bodyPr wrap="square" lIns="0" rIns="0" tIns="0" bIns="0" anchor="t">
            <a:spAutoFit/>
          </a:bodyPr>
          <a:lstStyle/>
          <a:p>
            <a:pPr algn="l" marL="237744" indent="-237744">
              <a:lnSpc>
                <a:spcPct val="100000"/>
              </a:lnSpc>
              <a:spcAft>
                <a:spcPts val="1000"/>
              </a:spcAft>
              <a:buClr>
                <a:srgbClr val="2a78d6"/>
              </a:buClr>
              <a:buChar char="•"/>
            </a:pPr>
            <a:r>
              <a:rPr sz="1700" b="0">
                <a:solidFill>
                  <a:srgbClr val="0B0B0B"/>
                </a:solidFill>
                <a:latin typeface="Calibri"/>
              </a:rPr>
              <a:t>Column “AOI_5” = </a:t>
            </a:r>
            <a:r>
              <a:rPr sz="1700" b="1">
                <a:solidFill>
                  <a:srgbClr val="0B0B0B"/>
                </a:solidFill>
                <a:latin typeface="Calibri"/>
              </a:rPr>
              <a:t>the 4th line on screen</a:t>
            </a:r>
            <a:r>
              <a:rPr sz="1700" b="0">
                <a:solidFill>
                  <a:srgbClr val="0B0B0B"/>
                </a:solidFill>
                <a:latin typeface="Calibri"/>
              </a:rPr>
              <a:t> — a different sentence in every text</a:t>
            </a:r>
          </a:p>
          <a:p>
            <a:pPr algn="l" marL="237744" indent="-237744">
              <a:lnSpc>
                <a:spcPct val="100000"/>
              </a:lnSpc>
              <a:spcAft>
                <a:spcPts val="1000"/>
              </a:spcAft>
              <a:buClr>
                <a:srgbClr val="2a78d6"/>
              </a:buClr>
              <a:buChar char="•"/>
            </a:pPr>
            <a:r>
              <a:rPr sz="1700" b="0">
                <a:solidFill>
                  <a:srgbClr val="0B0B0B"/>
                </a:solidFill>
                <a:latin typeface="Calibri"/>
              </a:rPr>
              <a:t>A click on a line marked </a:t>
            </a:r>
            <a:r>
              <a:rPr sz="1700" b="1">
                <a:solidFill>
                  <a:srgbClr val="0B0B0B"/>
                </a:solidFill>
                <a:latin typeface="Calibri"/>
              </a:rPr>
              <a:t>every</a:t>
            </a:r>
            <a:r>
              <a:rPr sz="1700" b="0">
                <a:solidFill>
                  <a:srgbClr val="0B0B0B"/>
                </a:solidFill>
                <a:latin typeface="Calibri"/>
              </a:rPr>
              <a:t> fixation on that line as confused, for the whole session</a:t>
            </a:r>
          </a:p>
          <a:p>
            <a:pPr algn="l" marL="237744" indent="-237744">
              <a:lnSpc>
                <a:spcPct val="100000"/>
              </a:lnSpc>
              <a:spcAft>
                <a:spcPts val="1000"/>
              </a:spcAft>
              <a:buClr>
                <a:srgbClr val="2a78d6"/>
              </a:buClr>
              <a:buChar char="•"/>
            </a:pPr>
            <a:r>
              <a:rPr sz="1700" b="0">
                <a:solidFill>
                  <a:srgbClr val="0B0B0B"/>
                </a:solidFill>
                <a:latin typeface="Calibri"/>
              </a:rPr>
              <a:t>So the model can learn “line 4 is confusing” — useless on any new text</a:t>
            </a:r>
          </a:p>
          <a:p>
            <a:pPr algn="l" marL="237744" indent="-237744">
              <a:lnSpc>
                <a:spcPct val="100000"/>
              </a:lnSpc>
              <a:spcAft>
                <a:spcPts val="1000"/>
              </a:spcAft>
              <a:buClr>
                <a:srgbClr val="2a78d6"/>
              </a:buClr>
              <a:buChar char="•"/>
            </a:pPr>
            <a:r>
              <a:rPr sz="1700" b="0">
                <a:solidFill>
                  <a:srgbClr val="0B0B0B"/>
                </a:solidFill>
                <a:latin typeface="Calibri"/>
              </a:rPr>
              <a:t>Seen live: “Confused” fired on only </a:t>
            </a:r>
            <a:r>
              <a:rPr sz="1700" b="1">
                <a:solidFill>
                  <a:srgbClr val="0B0B0B"/>
                </a:solidFill>
                <a:latin typeface="Calibri"/>
              </a:rPr>
              <a:t>8 of 18</a:t>
            </a:r>
            <a:r>
              <a:rPr sz="1700" b="0">
                <a:solidFill>
                  <a:srgbClr val="0B0B0B"/>
                </a:solidFill>
                <a:latin typeface="Calibri"/>
              </a:rPr>
              <a:t> lines, and </a:t>
            </a:r>
            <a:r>
              <a:rPr sz="1700" b="1">
                <a:solidFill>
                  <a:srgbClr val="0B0B0B"/>
                </a:solidFill>
                <a:latin typeface="Calibri"/>
              </a:rPr>
              <a:t>never</a:t>
            </a:r>
            <a:r>
              <a:rPr sz="1700" b="0">
                <a:solidFill>
                  <a:srgbClr val="0B0B0B"/>
                </a:solidFill>
                <a:latin typeface="Calibri"/>
              </a:rPr>
              <a:t> off the text (0 of 70)</a:t>
            </a:r>
          </a:p>
        </p:txBody>
      </p:sp>
      <p:sp>
        <p:nvSpPr>
          <p:cNvPr id="9" name="Rounded Rectangle 8"/>
          <p:cNvSpPr/>
          <p:nvPr/>
        </p:nvSpPr>
        <p:spPr>
          <a:xfrm>
            <a:off x="640080" y="4434840"/>
            <a:ext cx="5760720" cy="155448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4581144"/>
            <a:ext cx="5394959" cy="1280160"/>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Measured in Experiment 2</a:t>
            </a:r>
          </a:p>
          <a:p>
            <a:pPr algn="l">
              <a:lnSpc>
                <a:spcPct val="100000"/>
              </a:lnSpc>
              <a:spcAft>
                <a:spcPts val="300"/>
              </a:spcAft>
            </a:pPr>
            <a:r>
              <a:rPr sz="1600" b="0">
                <a:solidFill>
                  <a:srgbClr val="52514E"/>
                </a:solidFill>
                <a:latin typeface="Calibri"/>
              </a:rPr>
              <a:t>Tested on unseen sessions instead of a random split, the old setup drops from AUC 0.87 to 0.74.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3 · FIX</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Step 3 — Three measurement bugs I fixed</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8</a:t>
            </a:r>
          </a:p>
        </p:txBody>
      </p:sp>
      <p:pic>
        <p:nvPicPr>
          <p:cNvPr id="7" name="Picture 6" descr="regression_flag.png"/>
          <p:cNvPicPr>
            <a:picLocks noChangeAspect="1"/>
          </p:cNvPicPr>
          <p:nvPr/>
        </p:nvPicPr>
        <p:blipFill>
          <a:blip r:embed="rId3"/>
          <a:stretch>
            <a:fillRect/>
          </a:stretch>
        </p:blipFill>
        <p:spPr>
          <a:xfrm>
            <a:off x="640080" y="1783080"/>
            <a:ext cx="5669280" cy="1630497"/>
          </a:xfrm>
          <a:prstGeom prst="rect">
            <a:avLst/>
          </a:prstGeom>
        </p:spPr>
      </p:pic>
      <p:sp>
        <p:nvSpPr>
          <p:cNvPr id="8" name="TextBox 7"/>
          <p:cNvSpPr txBox="1"/>
          <p:nvPr/>
        </p:nvSpPr>
        <p:spPr>
          <a:xfrm>
            <a:off x="640080" y="3794760"/>
            <a:ext cx="5669280" cy="82296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89% of old flags were ≤ 25 px jitter on the same line (median 6 px); the old flag also missed 115 of 180 real leftward re-reads.</a:t>
            </a:r>
          </a:p>
        </p:txBody>
      </p:sp>
      <p:sp>
        <p:nvSpPr>
          <p:cNvPr id="9" name="Rounded Rectangle 8"/>
          <p:cNvSpPr/>
          <p:nvPr/>
        </p:nvSpPr>
        <p:spPr>
          <a:xfrm>
            <a:off x="6675120" y="1783080"/>
            <a:ext cx="4937760" cy="132588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929384"/>
            <a:ext cx="4572000" cy="1051560"/>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1 · Regression flag</a:t>
            </a:r>
          </a:p>
          <a:p>
            <a:pPr algn="l">
              <a:lnSpc>
                <a:spcPct val="100000"/>
              </a:lnSpc>
              <a:spcAft>
                <a:spcPts val="300"/>
              </a:spcAft>
            </a:pPr>
            <a:r>
              <a:rPr sz="1500" b="0">
                <a:solidFill>
                  <a:srgbClr val="52514E"/>
                </a:solidFill>
                <a:latin typeface="Calibri"/>
              </a:rPr>
              <a:t>Any upward move → now: left on the same line, or up to an earlier line</a:t>
            </a:r>
          </a:p>
        </p:txBody>
      </p:sp>
      <p:sp>
        <p:nvSpPr>
          <p:cNvPr id="11" name="Rounded Rectangle 10"/>
          <p:cNvSpPr/>
          <p:nvPr/>
        </p:nvSpPr>
        <p:spPr>
          <a:xfrm>
            <a:off x="6675120" y="3246120"/>
            <a:ext cx="4937760" cy="132588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392424"/>
            <a:ext cx="4572000" cy="1051560"/>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2 · Time between fixations</a:t>
            </a:r>
          </a:p>
          <a:p>
            <a:pPr algn="l">
              <a:lnSpc>
                <a:spcPct val="100000"/>
              </a:lnSpc>
              <a:spcAft>
                <a:spcPts val="300"/>
              </a:spcAft>
            </a:pPr>
            <a:r>
              <a:rPr sz="1500" b="0">
                <a:solidFill>
                  <a:srgbClr val="52514E"/>
                </a:solidFill>
                <a:latin typeface="Calibri"/>
              </a:rPr>
              <a:t>Was start-to-start (median 1.3 s) → now end-to-start (0.65 s)</a:t>
            </a:r>
          </a:p>
        </p:txBody>
      </p:sp>
      <p:sp>
        <p:nvSpPr>
          <p:cNvPr id="13" name="Rounded Rectangle 12"/>
          <p:cNvSpPr/>
          <p:nvPr/>
        </p:nvSpPr>
        <p:spPr>
          <a:xfrm>
            <a:off x="6675120" y="4709160"/>
            <a:ext cx="4937760" cy="132588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4855464"/>
            <a:ext cx="4572000" cy="1051560"/>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3 · Fixations lost on blinks</a:t>
            </a:r>
          </a:p>
          <a:p>
            <a:pPr algn="l">
              <a:lnSpc>
                <a:spcPct val="100000"/>
              </a:lnSpc>
              <a:spcAft>
                <a:spcPts val="300"/>
              </a:spcAft>
            </a:pPr>
            <a:r>
              <a:rPr sz="1500" b="0">
                <a:solidFill>
                  <a:srgbClr val="52514E"/>
                </a:solidFill>
                <a:latin typeface="Calibri"/>
              </a:rPr>
              <a:t>One missed screenshot dropped the fixation → 68 fixations recovered</a:t>
            </a:r>
          </a:p>
        </p:txBody>
      </p:sp>
      <p:sp>
        <p:nvSpPr>
          <p:cNvPr id="15" name="Rounded Rectangle 14"/>
          <p:cNvSpPr/>
          <p:nvPr/>
        </p:nvSpPr>
        <p:spPr>
          <a:xfrm>
            <a:off x="640080" y="4709160"/>
            <a:ext cx="5669280" cy="13258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855464"/>
            <a:ext cx="5303520" cy="1051560"/>
          </a:xfrm>
          <a:prstGeom prst="rect">
            <a:avLst/>
          </a:prstGeom>
          <a:noFill/>
        </p:spPr>
        <p:txBody>
          <a:bodyPr wrap="square" lIns="0" rIns="0" tIns="0" bIns="0" anchor="t">
            <a:spAutoFit/>
          </a:bodyPr>
          <a:lstStyle/>
          <a:p>
            <a:pPr algn="l">
              <a:lnSpc>
                <a:spcPct val="100000"/>
              </a:lnSpc>
              <a:spcAft>
                <a:spcPts val="400"/>
              </a:spcAft>
            </a:pPr>
            <a:r>
              <a:rPr sz="1700" b="1">
                <a:solidFill>
                  <a:srgbClr val="2A78D6"/>
                </a:solidFill>
                <a:latin typeface="Calibri"/>
              </a:rPr>
              <a:t>One shared module: gaze_core.py</a:t>
            </a:r>
          </a:p>
          <a:p>
            <a:pPr algn="l">
              <a:lnSpc>
                <a:spcPct val="100000"/>
              </a:lnSpc>
              <a:spcAft>
                <a:spcPts val="300"/>
              </a:spcAft>
            </a:pPr>
            <a:r>
              <a:rPr sz="1500" b="0">
                <a:solidFill>
                  <a:srgbClr val="52514E"/>
                </a:solidFill>
                <a:latin typeface="Calibri"/>
              </a:rPr>
              <a:t>The same code had been copy-pasted into six scripts; now analysis and recording use one version.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3 · FIX</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How I made sure the fixes and results are correct</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9</a:t>
            </a:r>
          </a:p>
        </p:txBody>
      </p:sp>
      <p:sp>
        <p:nvSpPr>
          <p:cNvPr id="7" name="Rounded Rectangle 6"/>
          <p:cNvSpPr/>
          <p:nvPr/>
        </p:nvSpPr>
        <p:spPr>
          <a:xfrm>
            <a:off x="640080" y="1783080"/>
            <a:ext cx="5394960" cy="14173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65960"/>
            <a:ext cx="2011680" cy="105156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99.1%</a:t>
            </a:r>
          </a:p>
        </p:txBody>
      </p:sp>
      <p:sp>
        <p:nvSpPr>
          <p:cNvPr id="9" name="TextBox 8"/>
          <p:cNvSpPr txBox="1"/>
          <p:nvPr/>
        </p:nvSpPr>
        <p:spPr>
          <a:xfrm>
            <a:off x="2880360" y="1965960"/>
            <a:ext cx="2971800" cy="105156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Rewrite reproduces the original fixations (1,539 / 1,553) before any fix</a:t>
            </a:r>
          </a:p>
        </p:txBody>
      </p:sp>
      <p:sp>
        <p:nvSpPr>
          <p:cNvPr id="10" name="Rounded Rectangle 9"/>
          <p:cNvSpPr/>
          <p:nvPr/>
        </p:nvSpPr>
        <p:spPr>
          <a:xfrm>
            <a:off x="6263640" y="1783080"/>
            <a:ext cx="5394960" cy="14173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65960"/>
            <a:ext cx="2011680" cy="105156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70 / 70</a:t>
            </a:r>
          </a:p>
        </p:txBody>
      </p:sp>
      <p:sp>
        <p:nvSpPr>
          <p:cNvPr id="12" name="TextBox 11"/>
          <p:cNvSpPr txBox="1"/>
          <p:nvPr/>
        </p:nvSpPr>
        <p:spPr>
          <a:xfrm>
            <a:off x="8503920" y="1965960"/>
            <a:ext cx="2971800" cy="105156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A new recording gives identical fixations live and offline</a:t>
            </a:r>
          </a:p>
        </p:txBody>
      </p:sp>
      <p:sp>
        <p:nvSpPr>
          <p:cNvPr id="13" name="Rounded Rectangle 12"/>
          <p:cNvSpPr/>
          <p:nvPr/>
        </p:nvSpPr>
        <p:spPr>
          <a:xfrm>
            <a:off x="640080" y="3383280"/>
            <a:ext cx="5394960" cy="14173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566160"/>
            <a:ext cx="2011680" cy="105156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5 · 10 · 15 s</a:t>
            </a:r>
          </a:p>
        </p:txBody>
      </p:sp>
      <p:sp>
        <p:nvSpPr>
          <p:cNvPr id="15" name="TextBox 14"/>
          <p:cNvSpPr txBox="1"/>
          <p:nvPr/>
        </p:nvSpPr>
        <p:spPr>
          <a:xfrm>
            <a:off x="2880360" y="3566160"/>
            <a:ext cx="2971800" cy="105156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Results hold for every window length; 10 s was fixed before seeing results</a:t>
            </a:r>
          </a:p>
        </p:txBody>
      </p:sp>
      <p:sp>
        <p:nvSpPr>
          <p:cNvPr id="16" name="Rounded Rectangle 15"/>
          <p:cNvSpPr/>
          <p:nvPr/>
        </p:nvSpPr>
        <p:spPr>
          <a:xfrm>
            <a:off x="6263640" y="3383280"/>
            <a:ext cx="5394960" cy="14173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566160"/>
            <a:ext cx="2011680" cy="105156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0</a:t>
            </a:r>
          </a:p>
        </p:txBody>
      </p:sp>
      <p:sp>
        <p:nvSpPr>
          <p:cNvPr id="18" name="TextBox 17"/>
          <p:cNvSpPr txBox="1"/>
          <p:nvPr/>
        </p:nvSpPr>
        <p:spPr>
          <a:xfrm>
            <a:off x="8503920" y="3566160"/>
            <a:ext cx="2971800" cy="105156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fixations on the click button inside the “confused” windows — not a button artefact</a:t>
            </a:r>
          </a:p>
        </p:txBody>
      </p:sp>
      <p:sp>
        <p:nvSpPr>
          <p:cNvPr id="19" name="Rounded Rectangle 18"/>
          <p:cNvSpPr/>
          <p:nvPr/>
        </p:nvSpPr>
        <p:spPr>
          <a:xfrm>
            <a:off x="640080" y="5074920"/>
            <a:ext cx="10972800" cy="9144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221224"/>
            <a:ext cx="10607040" cy="640080"/>
          </a:xfrm>
          <a:prstGeom prst="rect">
            <a:avLst/>
          </a:prstGeom>
          <a:noFill/>
        </p:spPr>
        <p:txBody>
          <a:bodyPr wrap="square" lIns="0" rIns="0" tIns="0" bIns="0" anchor="t">
            <a:spAutoFit/>
          </a:bodyPr>
          <a:lstStyle/>
          <a:p>
            <a:pPr algn="l">
              <a:lnSpc>
                <a:spcPct val="100000"/>
              </a:lnSpc>
              <a:spcAft>
                <a:spcPts val="400"/>
              </a:spcAft>
            </a:pPr>
            <a:r>
              <a:rPr sz="1600" b="1">
                <a:solidFill>
                  <a:srgbClr val="2A78D6"/>
                </a:solidFill>
                <a:latin typeface="Calibri"/>
              </a:rPr>
              <a:t>These checks caught two bugs in my own code — fixed and reported</a:t>
            </a:r>
          </a:p>
          <a:p>
            <a:pPr algn="l">
              <a:lnSpc>
                <a:spcPct val="100000"/>
              </a:lnSpc>
              <a:spcAft>
                <a:spcPts val="300"/>
              </a:spcAft>
            </a:pPr>
            <a:r>
              <a:rPr sz="1500" b="0">
                <a:solidFill>
                  <a:srgbClr val="52514E"/>
                </a:solidFill>
                <a:latin typeface="Calibri"/>
              </a:rPr>
              <a:t>a 5.5-hour time-zone offset, and the text “None” being read as a missing value; results moved by ≤ 0.01 AUC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4 · EXPERIMENTS</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Experiment 1 — Label confusion by time, not by place</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10</a:t>
            </a:r>
          </a:p>
        </p:txBody>
      </p:sp>
      <p:sp>
        <p:nvSpPr>
          <p:cNvPr id="7" name="Rectangle 6"/>
          <p:cNvSpPr/>
          <p:nvPr/>
        </p:nvSpPr>
        <p:spPr>
          <a:xfrm>
            <a:off x="822960" y="2514600"/>
            <a:ext cx="10424160" cy="54864"/>
          </a:xfrm>
          <a:prstGeom prst="rect">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0" y="2011680"/>
            <a:ext cx="3291840" cy="10515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961120" y="1828800"/>
            <a:ext cx="64008" cy="14173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16568" y="1783080"/>
            <a:ext cx="2377440" cy="457200"/>
          </a:xfrm>
          <a:prstGeom prst="rect">
            <a:avLst/>
          </a:prstGeom>
          <a:noFill/>
        </p:spPr>
        <p:txBody>
          <a:bodyPr wrap="square" lIns="0" rIns="0" tIns="0" bIns="0" anchor="t">
            <a:spAutoFit/>
          </a:bodyPr>
          <a:lstStyle/>
          <a:p>
            <a:pPr algn="l">
              <a:lnSpc>
                <a:spcPct val="100000"/>
              </a:lnSpc>
              <a:spcAft>
                <a:spcPts val="600"/>
              </a:spcAft>
            </a:pPr>
            <a:r>
              <a:rPr sz="1500" b="1">
                <a:solidFill>
                  <a:srgbClr val="EB6834"/>
                </a:solidFill>
                <a:latin typeface="Calibri"/>
              </a:rPr>
              <a:t>click: “Yes (Confused)”</a:t>
            </a:r>
          </a:p>
        </p:txBody>
      </p:sp>
      <p:sp>
        <p:nvSpPr>
          <p:cNvPr id="11" name="TextBox 10"/>
          <p:cNvSpPr txBox="1"/>
          <p:nvPr/>
        </p:nvSpPr>
        <p:spPr>
          <a:xfrm>
            <a:off x="5669280" y="3154680"/>
            <a:ext cx="3291840" cy="365760"/>
          </a:xfrm>
          <a:prstGeom prst="rect">
            <a:avLst/>
          </a:prstGeom>
          <a:noFill/>
        </p:spPr>
        <p:txBody>
          <a:bodyPr wrap="square" lIns="0" rIns="0" tIns="0" bIns="0" anchor="t">
            <a:spAutoFit/>
          </a:bodyPr>
          <a:lstStyle/>
          <a:p>
            <a:pPr algn="ctr">
              <a:lnSpc>
                <a:spcPct val="100000"/>
              </a:lnSpc>
              <a:spcAft>
                <a:spcPts val="600"/>
              </a:spcAft>
            </a:pPr>
            <a:r>
              <a:rPr sz="1500" b="1">
                <a:solidFill>
                  <a:srgbClr val="2A78D6"/>
                </a:solidFill>
                <a:latin typeface="Calibri"/>
              </a:rPr>
              <a:t>5 / 10 / 15 s before the click → confused</a:t>
            </a:r>
          </a:p>
        </p:txBody>
      </p:sp>
      <p:sp>
        <p:nvSpPr>
          <p:cNvPr id="12" name="Rounded Rectangle 11"/>
          <p:cNvSpPr/>
          <p:nvPr/>
        </p:nvSpPr>
        <p:spPr>
          <a:xfrm>
            <a:off x="118872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73736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37744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2608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6616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0624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5488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30352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943600" y="2404872"/>
            <a:ext cx="274320" cy="274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2404872"/>
            <a:ext cx="274320" cy="274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858000" y="2404872"/>
            <a:ext cx="274320" cy="274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406640" y="2404872"/>
            <a:ext cx="274320" cy="274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863840" y="2404872"/>
            <a:ext cx="274320" cy="274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412480" y="2404872"/>
            <a:ext cx="274320" cy="27432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0976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05840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98480" y="2404872"/>
            <a:ext cx="274320" cy="274320"/>
          </a:xfrm>
          <a:prstGeom prst="roundRect">
            <a:avLst>
              <a:gd name="adj" fmla="val 8000"/>
            </a:avLst>
          </a:prstGeom>
          <a:solidFill>
            <a:srgbClr val="A3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154680"/>
            <a:ext cx="4572000" cy="365760"/>
          </a:xfrm>
          <a:prstGeom prst="rect">
            <a:avLst/>
          </a:prstGeom>
          <a:noFill/>
        </p:spPr>
        <p:txBody>
          <a:bodyPr wrap="square" lIns="0" rIns="0" tIns="0" bIns="0" anchor="t">
            <a:spAutoFit/>
          </a:bodyPr>
          <a:lstStyle/>
          <a:p>
            <a:pPr algn="l">
              <a:lnSpc>
                <a:spcPct val="100000"/>
              </a:lnSpc>
              <a:spcAft>
                <a:spcPts val="600"/>
              </a:spcAft>
            </a:pPr>
            <a:r>
              <a:rPr sz="1400" b="0">
                <a:solidFill>
                  <a:srgbClr val="8A8984"/>
                </a:solidFill>
                <a:latin typeface="Calibri"/>
              </a:rPr>
              <a:t>fixations over time →</a:t>
            </a:r>
          </a:p>
        </p:txBody>
      </p:sp>
      <p:sp>
        <p:nvSpPr>
          <p:cNvPr id="30" name="Rounded Rectangle 29"/>
          <p:cNvSpPr/>
          <p:nvPr/>
        </p:nvSpPr>
        <p:spPr>
          <a:xfrm>
            <a:off x="640080" y="3703320"/>
            <a:ext cx="5394960" cy="114300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 y="3849624"/>
            <a:ext cx="5029200" cy="868680"/>
          </a:xfrm>
          <a:prstGeom prst="rect">
            <a:avLst/>
          </a:prstGeom>
          <a:noFill/>
        </p:spPr>
        <p:txBody>
          <a:bodyPr wrap="square" lIns="0" rIns="0" tIns="0" bIns="0" anchor="t">
            <a:spAutoFit/>
          </a:bodyPr>
          <a:lstStyle/>
          <a:p>
            <a:pPr algn="l">
              <a:lnSpc>
                <a:spcPct val="100000"/>
              </a:lnSpc>
              <a:spcAft>
                <a:spcPts val="400"/>
              </a:spcAft>
            </a:pPr>
            <a:r>
              <a:rPr sz="1700" b="1">
                <a:solidFill>
                  <a:srgbClr val="0B0B0B"/>
                </a:solidFill>
                <a:latin typeface="Calibri"/>
              </a:rPr>
              <a:t>Old rule (by place)</a:t>
            </a:r>
          </a:p>
          <a:p>
            <a:pPr algn="l">
              <a:lnSpc>
                <a:spcPct val="100000"/>
              </a:lnSpc>
              <a:spcAft>
                <a:spcPts val="300"/>
              </a:spcAft>
            </a:pPr>
            <a:r>
              <a:rPr sz="1500" b="0">
                <a:solidFill>
                  <a:srgbClr val="52514E"/>
                </a:solidFill>
                <a:latin typeface="Calibri"/>
              </a:rPr>
              <a:t>Fixation on a clicked line, at any time in the session → confused</a:t>
            </a:r>
          </a:p>
        </p:txBody>
      </p:sp>
      <p:sp>
        <p:nvSpPr>
          <p:cNvPr id="32" name="Rounded Rectangle 31"/>
          <p:cNvSpPr/>
          <p:nvPr/>
        </p:nvSpPr>
        <p:spPr>
          <a:xfrm>
            <a:off x="640080" y="4983480"/>
            <a:ext cx="5394960" cy="114300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5129784"/>
            <a:ext cx="5029200" cy="868680"/>
          </a:xfrm>
          <a:prstGeom prst="rect">
            <a:avLst/>
          </a:prstGeom>
          <a:noFill/>
        </p:spPr>
        <p:txBody>
          <a:bodyPr wrap="square" lIns="0" rIns="0" tIns="0" bIns="0" anchor="t">
            <a:spAutoFit/>
          </a:bodyPr>
          <a:lstStyle/>
          <a:p>
            <a:pPr algn="l">
              <a:lnSpc>
                <a:spcPct val="100000"/>
              </a:lnSpc>
              <a:spcAft>
                <a:spcPts val="400"/>
              </a:spcAft>
            </a:pPr>
            <a:r>
              <a:rPr sz="1700" b="1">
                <a:solidFill>
                  <a:srgbClr val="2A78D6"/>
                </a:solidFill>
                <a:latin typeface="Calibri"/>
              </a:rPr>
              <a:t>New rule (by time)</a:t>
            </a:r>
          </a:p>
          <a:p>
            <a:pPr algn="l">
              <a:lnSpc>
                <a:spcPct val="100000"/>
              </a:lnSpc>
              <a:spcAft>
                <a:spcPts val="300"/>
              </a:spcAft>
            </a:pPr>
            <a:r>
              <a:rPr sz="1500" b="0">
                <a:solidFill>
                  <a:srgbClr val="52514E"/>
                </a:solidFill>
                <a:latin typeface="Calibri"/>
              </a:rPr>
              <a:t>Fixation in the seconds before a click → confused</a:t>
            </a:r>
          </a:p>
        </p:txBody>
      </p:sp>
      <p:sp>
        <p:nvSpPr>
          <p:cNvPr id="34" name="Rectangle 33"/>
          <p:cNvSpPr/>
          <p:nvPr/>
        </p:nvSpPr>
        <p:spPr>
          <a:xfrm>
            <a:off x="6492240" y="3703320"/>
            <a:ext cx="5120640" cy="45720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3776472"/>
            <a:ext cx="2286000" cy="365760"/>
          </a:xfrm>
          <a:prstGeom prst="rect">
            <a:avLst/>
          </a:prstGeom>
          <a:noFill/>
        </p:spPr>
        <p:txBody>
          <a:bodyPr wrap="square" lIns="0" rIns="0" tIns="0" bIns="0" anchor="t">
            <a:spAutoFit/>
          </a:bodyPr>
          <a:lstStyle/>
          <a:p>
            <a:pPr algn="l">
              <a:lnSpc>
                <a:spcPct val="100000"/>
              </a:lnSpc>
              <a:spcAft>
                <a:spcPts val="600"/>
              </a:spcAft>
            </a:pPr>
            <a:r>
              <a:rPr sz="1600" b="1">
                <a:solidFill>
                  <a:srgbClr val="0B0B0B"/>
                </a:solidFill>
                <a:latin typeface="Calibri"/>
              </a:rPr>
              <a:t>Window</a:t>
            </a:r>
          </a:p>
        </p:txBody>
      </p:sp>
      <p:sp>
        <p:nvSpPr>
          <p:cNvPr id="36" name="TextBox 35"/>
          <p:cNvSpPr txBox="1"/>
          <p:nvPr/>
        </p:nvSpPr>
        <p:spPr>
          <a:xfrm>
            <a:off x="9052560" y="3776472"/>
            <a:ext cx="2377440" cy="365760"/>
          </a:xfrm>
          <a:prstGeom prst="rect">
            <a:avLst/>
          </a:prstGeom>
          <a:noFill/>
        </p:spPr>
        <p:txBody>
          <a:bodyPr wrap="square" lIns="0" rIns="0" tIns="0" bIns="0" anchor="t">
            <a:spAutoFit/>
          </a:bodyPr>
          <a:lstStyle/>
          <a:p>
            <a:pPr algn="r">
              <a:lnSpc>
                <a:spcPct val="100000"/>
              </a:lnSpc>
              <a:spcAft>
                <a:spcPts val="600"/>
              </a:spcAft>
            </a:pPr>
            <a:r>
              <a:rPr sz="1600" b="1">
                <a:solidFill>
                  <a:srgbClr val="0B0B0B"/>
                </a:solidFill>
                <a:latin typeface="Calibri"/>
              </a:rPr>
              <a:t>Labelled confused</a:t>
            </a:r>
          </a:p>
        </p:txBody>
      </p:sp>
      <p:sp>
        <p:nvSpPr>
          <p:cNvPr id="37" name="TextBox 36"/>
          <p:cNvSpPr txBox="1"/>
          <p:nvPr/>
        </p:nvSpPr>
        <p:spPr>
          <a:xfrm>
            <a:off x="6675120" y="4261104"/>
            <a:ext cx="2286000" cy="365760"/>
          </a:xfrm>
          <a:prstGeom prst="rect">
            <a:avLst/>
          </a:prstGeom>
          <a:noFill/>
        </p:spPr>
        <p:txBody>
          <a:bodyPr wrap="square" lIns="0" rIns="0" tIns="0" bIns="0" anchor="t">
            <a:spAutoFit/>
          </a:bodyPr>
          <a:lstStyle/>
          <a:p>
            <a:pPr algn="l">
              <a:lnSpc>
                <a:spcPct val="100000"/>
              </a:lnSpc>
              <a:spcAft>
                <a:spcPts val="600"/>
              </a:spcAft>
            </a:pPr>
            <a:r>
              <a:rPr sz="1600" b="0">
                <a:solidFill>
                  <a:srgbClr val="0B0B0B"/>
                </a:solidFill>
                <a:latin typeface="Calibri"/>
              </a:rPr>
              <a:t>5 s</a:t>
            </a:r>
          </a:p>
        </p:txBody>
      </p:sp>
      <p:sp>
        <p:nvSpPr>
          <p:cNvPr id="38" name="TextBox 37"/>
          <p:cNvSpPr txBox="1"/>
          <p:nvPr/>
        </p:nvSpPr>
        <p:spPr>
          <a:xfrm>
            <a:off x="9052560" y="4261104"/>
            <a:ext cx="2377440" cy="365760"/>
          </a:xfrm>
          <a:prstGeom prst="rect">
            <a:avLst/>
          </a:prstGeom>
          <a:noFill/>
        </p:spPr>
        <p:txBody>
          <a:bodyPr wrap="square" lIns="0" rIns="0" tIns="0" bIns="0" anchor="t">
            <a:spAutoFit/>
          </a:bodyPr>
          <a:lstStyle/>
          <a:p>
            <a:pPr algn="r">
              <a:lnSpc>
                <a:spcPct val="100000"/>
              </a:lnSpc>
              <a:spcAft>
                <a:spcPts val="600"/>
              </a:spcAft>
            </a:pPr>
            <a:r>
              <a:rPr sz="1600" b="0">
                <a:solidFill>
                  <a:srgbClr val="0B0B0B"/>
                </a:solidFill>
                <a:latin typeface="Calibri"/>
              </a:rPr>
              <a:t>16%</a:t>
            </a:r>
          </a:p>
        </p:txBody>
      </p:sp>
      <p:sp>
        <p:nvSpPr>
          <p:cNvPr id="39" name="TextBox 38"/>
          <p:cNvSpPr txBox="1"/>
          <p:nvPr/>
        </p:nvSpPr>
        <p:spPr>
          <a:xfrm>
            <a:off x="6675120" y="4745736"/>
            <a:ext cx="2286000" cy="365760"/>
          </a:xfrm>
          <a:prstGeom prst="rect">
            <a:avLst/>
          </a:prstGeom>
          <a:noFill/>
        </p:spPr>
        <p:txBody>
          <a:bodyPr wrap="square" lIns="0" rIns="0" tIns="0" bIns="0" anchor="t">
            <a:spAutoFit/>
          </a:bodyPr>
          <a:lstStyle/>
          <a:p>
            <a:pPr algn="l">
              <a:lnSpc>
                <a:spcPct val="100000"/>
              </a:lnSpc>
              <a:spcAft>
                <a:spcPts val="600"/>
              </a:spcAft>
            </a:pPr>
            <a:r>
              <a:rPr sz="1600" b="0">
                <a:solidFill>
                  <a:srgbClr val="0B0B0B"/>
                </a:solidFill>
                <a:latin typeface="Calibri"/>
              </a:rPr>
              <a:t>10 s</a:t>
            </a:r>
          </a:p>
        </p:txBody>
      </p:sp>
      <p:sp>
        <p:nvSpPr>
          <p:cNvPr id="40" name="TextBox 39"/>
          <p:cNvSpPr txBox="1"/>
          <p:nvPr/>
        </p:nvSpPr>
        <p:spPr>
          <a:xfrm>
            <a:off x="9052560" y="4745736"/>
            <a:ext cx="2377440" cy="365760"/>
          </a:xfrm>
          <a:prstGeom prst="rect">
            <a:avLst/>
          </a:prstGeom>
          <a:noFill/>
        </p:spPr>
        <p:txBody>
          <a:bodyPr wrap="square" lIns="0" rIns="0" tIns="0" bIns="0" anchor="t">
            <a:spAutoFit/>
          </a:bodyPr>
          <a:lstStyle/>
          <a:p>
            <a:pPr algn="r">
              <a:lnSpc>
                <a:spcPct val="100000"/>
              </a:lnSpc>
              <a:spcAft>
                <a:spcPts val="600"/>
              </a:spcAft>
            </a:pPr>
            <a:r>
              <a:rPr sz="1600" b="0">
                <a:solidFill>
                  <a:srgbClr val="0B0B0B"/>
                </a:solidFill>
                <a:latin typeface="Calibri"/>
              </a:rPr>
              <a:t>26%</a:t>
            </a:r>
          </a:p>
        </p:txBody>
      </p:sp>
      <p:sp>
        <p:nvSpPr>
          <p:cNvPr id="41" name="TextBox 40"/>
          <p:cNvSpPr txBox="1"/>
          <p:nvPr/>
        </p:nvSpPr>
        <p:spPr>
          <a:xfrm>
            <a:off x="6675120" y="5230368"/>
            <a:ext cx="2286000" cy="365760"/>
          </a:xfrm>
          <a:prstGeom prst="rect">
            <a:avLst/>
          </a:prstGeom>
          <a:noFill/>
        </p:spPr>
        <p:txBody>
          <a:bodyPr wrap="square" lIns="0" rIns="0" tIns="0" bIns="0" anchor="t">
            <a:spAutoFit/>
          </a:bodyPr>
          <a:lstStyle/>
          <a:p>
            <a:pPr algn="l">
              <a:lnSpc>
                <a:spcPct val="100000"/>
              </a:lnSpc>
              <a:spcAft>
                <a:spcPts val="600"/>
              </a:spcAft>
            </a:pPr>
            <a:r>
              <a:rPr sz="1600" b="0">
                <a:solidFill>
                  <a:srgbClr val="0B0B0B"/>
                </a:solidFill>
                <a:latin typeface="Calibri"/>
              </a:rPr>
              <a:t>15 s</a:t>
            </a:r>
          </a:p>
        </p:txBody>
      </p:sp>
      <p:sp>
        <p:nvSpPr>
          <p:cNvPr id="42" name="TextBox 41"/>
          <p:cNvSpPr txBox="1"/>
          <p:nvPr/>
        </p:nvSpPr>
        <p:spPr>
          <a:xfrm>
            <a:off x="9052560" y="5230368"/>
            <a:ext cx="2377440" cy="365760"/>
          </a:xfrm>
          <a:prstGeom prst="rect">
            <a:avLst/>
          </a:prstGeom>
          <a:noFill/>
        </p:spPr>
        <p:txBody>
          <a:bodyPr wrap="square" lIns="0" rIns="0" tIns="0" bIns="0" anchor="t">
            <a:spAutoFit/>
          </a:bodyPr>
          <a:lstStyle/>
          <a:p>
            <a:pPr algn="r">
              <a:lnSpc>
                <a:spcPct val="100000"/>
              </a:lnSpc>
              <a:spcAft>
                <a:spcPts val="600"/>
              </a:spcAft>
            </a:pPr>
            <a:r>
              <a:rPr sz="1600" b="0">
                <a:solidFill>
                  <a:srgbClr val="0B0B0B"/>
                </a:solidFill>
                <a:latin typeface="Calibri"/>
              </a:rPr>
              <a:t>35%</a:t>
            </a:r>
          </a:p>
        </p:txBody>
      </p:sp>
      <p:sp>
        <p:nvSpPr>
          <p:cNvPr id="43" name="TextBox 42"/>
          <p:cNvSpPr txBox="1"/>
          <p:nvPr/>
        </p:nvSpPr>
        <p:spPr>
          <a:xfrm>
            <a:off x="6675120" y="5715000"/>
            <a:ext cx="2286000" cy="365760"/>
          </a:xfrm>
          <a:prstGeom prst="rect">
            <a:avLst/>
          </a:prstGeom>
          <a:noFill/>
        </p:spPr>
        <p:txBody>
          <a:bodyPr wrap="square" lIns="0" rIns="0" tIns="0" bIns="0" anchor="t">
            <a:spAutoFit/>
          </a:bodyPr>
          <a:lstStyle/>
          <a:p>
            <a:pPr algn="l">
              <a:lnSpc>
                <a:spcPct val="100000"/>
              </a:lnSpc>
              <a:spcAft>
                <a:spcPts val="600"/>
              </a:spcAft>
            </a:pPr>
            <a:r>
              <a:rPr sz="1600" b="0">
                <a:solidFill>
                  <a:srgbClr val="0B0B0B"/>
                </a:solidFill>
                <a:latin typeface="Calibri"/>
              </a:rPr>
              <a:t>Old rule</a:t>
            </a:r>
          </a:p>
        </p:txBody>
      </p:sp>
      <p:sp>
        <p:nvSpPr>
          <p:cNvPr id="44" name="TextBox 43"/>
          <p:cNvSpPr txBox="1"/>
          <p:nvPr/>
        </p:nvSpPr>
        <p:spPr>
          <a:xfrm>
            <a:off x="9052560" y="5715000"/>
            <a:ext cx="2377440" cy="365760"/>
          </a:xfrm>
          <a:prstGeom prst="rect">
            <a:avLst/>
          </a:prstGeom>
          <a:noFill/>
        </p:spPr>
        <p:txBody>
          <a:bodyPr wrap="square" lIns="0" rIns="0" tIns="0" bIns="0" anchor="t">
            <a:spAutoFit/>
          </a:bodyPr>
          <a:lstStyle/>
          <a:p>
            <a:pPr algn="r">
              <a:lnSpc>
                <a:spcPct val="100000"/>
              </a:lnSpc>
              <a:spcAft>
                <a:spcPts val="600"/>
              </a:spcAft>
            </a:pPr>
            <a:r>
              <a:rPr sz="1600" b="0">
                <a:solidFill>
                  <a:srgbClr val="0B0B0B"/>
                </a:solidFill>
                <a:latin typeface="Calibri"/>
              </a:rPr>
              <a:t>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4 · EXPERIMENTS</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Before a confusion click, the eyes really do behave differently</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11</a:t>
            </a:r>
          </a:p>
        </p:txBody>
      </p:sp>
      <p:pic>
        <p:nvPicPr>
          <p:cNvPr id="7" name="Picture 6" descr="before_click.png"/>
          <p:cNvPicPr>
            <a:picLocks noChangeAspect="1"/>
          </p:cNvPicPr>
          <p:nvPr/>
        </p:nvPicPr>
        <p:blipFill>
          <a:blip r:embed="rId3"/>
          <a:stretch>
            <a:fillRect/>
          </a:stretch>
        </p:blipFill>
        <p:spPr>
          <a:xfrm>
            <a:off x="640080" y="1600200"/>
            <a:ext cx="5240955" cy="4526280"/>
          </a:xfrm>
          <a:prstGeom prst="rect">
            <a:avLst/>
          </a:prstGeom>
        </p:spPr>
      </p:pic>
      <p:sp>
        <p:nvSpPr>
          <p:cNvPr id="8" name="Rounded Rectangle 7"/>
          <p:cNvSpPr/>
          <p:nvPr/>
        </p:nvSpPr>
        <p:spPr>
          <a:xfrm>
            <a:off x="6675120" y="1783080"/>
            <a:ext cx="4937760" cy="11887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920240"/>
            <a:ext cx="1737360" cy="914400"/>
          </a:xfrm>
          <a:prstGeom prst="rect">
            <a:avLst/>
          </a:prstGeom>
          <a:noFill/>
        </p:spPr>
        <p:txBody>
          <a:bodyPr wrap="square" lIns="0" rIns="0" tIns="0" bIns="0" anchor="ctr">
            <a:spAutoFit/>
          </a:bodyPr>
          <a:lstStyle/>
          <a:p>
            <a:pPr algn="l">
              <a:lnSpc>
                <a:spcPct val="100000"/>
              </a:lnSpc>
              <a:spcAft>
                <a:spcPts val="600"/>
              </a:spcAft>
            </a:pPr>
            <a:r>
              <a:rPr sz="2800" b="1">
                <a:solidFill>
                  <a:srgbClr val="2A78D6"/>
                </a:solidFill>
                <a:latin typeface="Calibri"/>
              </a:rPr>
              <a:t>19 / 19</a:t>
            </a:r>
          </a:p>
        </p:txBody>
      </p:sp>
      <p:sp>
        <p:nvSpPr>
          <p:cNvPr id="10" name="TextBox 9"/>
          <p:cNvSpPr txBox="1"/>
          <p:nvPr/>
        </p:nvSpPr>
        <p:spPr>
          <a:xfrm>
            <a:off x="8641080" y="1920240"/>
            <a:ext cx="2834640" cy="91440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sessions: more re-reading before a click (median 11% → 28%)</a:t>
            </a:r>
          </a:p>
        </p:txBody>
      </p:sp>
      <p:sp>
        <p:nvSpPr>
          <p:cNvPr id="11" name="Rounded Rectangle 10"/>
          <p:cNvSpPr/>
          <p:nvPr/>
        </p:nvSpPr>
        <p:spPr>
          <a:xfrm>
            <a:off x="6675120" y="3108960"/>
            <a:ext cx="4937760" cy="11887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246120"/>
            <a:ext cx="1737360" cy="914400"/>
          </a:xfrm>
          <a:prstGeom prst="rect">
            <a:avLst/>
          </a:prstGeom>
          <a:noFill/>
        </p:spPr>
        <p:txBody>
          <a:bodyPr wrap="square" lIns="0" rIns="0" tIns="0" bIns="0" anchor="ctr">
            <a:spAutoFit/>
          </a:bodyPr>
          <a:lstStyle/>
          <a:p>
            <a:pPr algn="l">
              <a:lnSpc>
                <a:spcPct val="100000"/>
              </a:lnSpc>
              <a:spcAft>
                <a:spcPts val="600"/>
              </a:spcAft>
            </a:pPr>
            <a:r>
              <a:rPr sz="2800" b="1">
                <a:solidFill>
                  <a:srgbClr val="2A78D6"/>
                </a:solidFill>
                <a:latin typeface="Calibri"/>
              </a:rPr>
              <a:t>17 / 19</a:t>
            </a:r>
          </a:p>
        </p:txBody>
      </p:sp>
      <p:sp>
        <p:nvSpPr>
          <p:cNvPr id="13" name="TextBox 12"/>
          <p:cNvSpPr txBox="1"/>
          <p:nvPr/>
        </p:nvSpPr>
        <p:spPr>
          <a:xfrm>
            <a:off x="8641080" y="3246120"/>
            <a:ext cx="2834640" cy="91440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sessions: longer fixations (+0.13 s)</a:t>
            </a:r>
          </a:p>
        </p:txBody>
      </p:sp>
      <p:sp>
        <p:nvSpPr>
          <p:cNvPr id="14" name="Rounded Rectangle 13"/>
          <p:cNvSpPr/>
          <p:nvPr/>
        </p:nvSpPr>
        <p:spPr>
          <a:xfrm>
            <a:off x="6675120" y="4434840"/>
            <a:ext cx="4937760" cy="11887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4572000"/>
            <a:ext cx="1737360" cy="914400"/>
          </a:xfrm>
          <a:prstGeom prst="rect">
            <a:avLst/>
          </a:prstGeom>
          <a:noFill/>
        </p:spPr>
        <p:txBody>
          <a:bodyPr wrap="square" lIns="0" rIns="0" tIns="0" bIns="0" anchor="ctr">
            <a:spAutoFit/>
          </a:bodyPr>
          <a:lstStyle/>
          <a:p>
            <a:pPr algn="l">
              <a:lnSpc>
                <a:spcPct val="100000"/>
              </a:lnSpc>
              <a:spcAft>
                <a:spcPts val="600"/>
              </a:spcAft>
            </a:pPr>
            <a:r>
              <a:rPr sz="2800" b="1">
                <a:solidFill>
                  <a:srgbClr val="2A78D6"/>
                </a:solidFill>
                <a:latin typeface="Calibri"/>
              </a:rPr>
              <a:t>19 / 19</a:t>
            </a:r>
          </a:p>
        </p:txBody>
      </p:sp>
      <p:sp>
        <p:nvSpPr>
          <p:cNvPr id="16" name="TextBox 15"/>
          <p:cNvSpPr txBox="1"/>
          <p:nvPr/>
        </p:nvSpPr>
        <p:spPr>
          <a:xfrm>
            <a:off x="8641080" y="4572000"/>
            <a:ext cx="2834640" cy="914400"/>
          </a:xfrm>
          <a:prstGeom prst="rect">
            <a:avLst/>
          </a:prstGeom>
          <a:noFill/>
        </p:spPr>
        <p:txBody>
          <a:bodyPr wrap="square" lIns="0" rIns="0" tIns="0" bIns="0" anchor="ctr">
            <a:spAutoFit/>
          </a:bodyPr>
          <a:lstStyle/>
          <a:p>
            <a:pPr algn="l">
              <a:lnSpc>
                <a:spcPct val="100000"/>
              </a:lnSpc>
              <a:spcAft>
                <a:spcPts val="600"/>
              </a:spcAft>
            </a:pPr>
            <a:r>
              <a:rPr sz="1500" b="0">
                <a:solidFill>
                  <a:srgbClr val="52514E"/>
                </a:solidFill>
                <a:latin typeface="Calibri"/>
              </a:rPr>
              <a:t>sessions: shorter jumps between fixations (−95 px)</a:t>
            </a:r>
          </a:p>
        </p:txBody>
      </p:sp>
      <p:sp>
        <p:nvSpPr>
          <p:cNvPr id="17" name="TextBox 16"/>
          <p:cNvSpPr txBox="1"/>
          <p:nvPr/>
        </p:nvSpPr>
        <p:spPr>
          <a:xfrm>
            <a:off x="6675120" y="5806440"/>
            <a:ext cx="4937760" cy="457200"/>
          </a:xfrm>
          <a:prstGeom prst="rect">
            <a:avLst/>
          </a:prstGeom>
          <a:noFill/>
        </p:spPr>
        <p:txBody>
          <a:bodyPr wrap="square" lIns="0" rIns="0" tIns="0" bIns="0" anchor="t">
            <a:spAutoFit/>
          </a:bodyPr>
          <a:lstStyle/>
          <a:p>
            <a:pPr algn="l">
              <a:lnSpc>
                <a:spcPct val="100000"/>
              </a:lnSpc>
              <a:spcAft>
                <a:spcPts val="600"/>
              </a:spcAft>
            </a:pPr>
            <a:r>
              <a:rPr sz="1400" b="0">
                <a:solidFill>
                  <a:srgbClr val="52514E"/>
                </a:solidFill>
                <a:latin typeface="Calibri"/>
              </a:rPr>
              <a:t>Each p &lt; 0.001 (paired test per session). Classic signs of reading difficulty.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4 · EXPERIMENTS</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Experiment 2 — An honest test of whether confusion can be predicted</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12</a:t>
            </a:r>
          </a:p>
        </p:txBody>
      </p:sp>
      <p:sp>
        <p:nvSpPr>
          <p:cNvPr id="7" name="Rounded Rectangle 6"/>
          <p:cNvSpPr/>
          <p:nvPr/>
        </p:nvSpPr>
        <p:spPr>
          <a:xfrm>
            <a:off x="640080" y="1783080"/>
            <a:ext cx="3520440" cy="19659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29384"/>
            <a:ext cx="3154680" cy="1691639"/>
          </a:xfrm>
          <a:prstGeom prst="rect">
            <a:avLst/>
          </a:prstGeom>
          <a:noFill/>
        </p:spPr>
        <p:txBody>
          <a:bodyPr wrap="square" lIns="0" rIns="0" tIns="0" bIns="0" anchor="t">
            <a:spAutoFit/>
          </a:bodyPr>
          <a:lstStyle/>
          <a:p>
            <a:pPr algn="l">
              <a:lnSpc>
                <a:spcPct val="100000"/>
              </a:lnSpc>
              <a:spcAft>
                <a:spcPts val="400"/>
              </a:spcAft>
            </a:pPr>
            <a:r>
              <a:rPr sz="1900" b="1">
                <a:solidFill>
                  <a:srgbClr val="0B0B0B"/>
                </a:solidFill>
                <a:latin typeface="Calibri"/>
              </a:rPr>
              <a:t>Unit</a:t>
            </a:r>
          </a:p>
          <a:p>
            <a:pPr algn="l">
              <a:lnSpc>
                <a:spcPct val="100000"/>
              </a:lnSpc>
              <a:spcAft>
                <a:spcPts val="300"/>
              </a:spcAft>
            </a:pPr>
            <a:r>
              <a:rPr sz="1600" b="0">
                <a:solidFill>
                  <a:srgbClr val="52514E"/>
                </a:solidFill>
                <a:latin typeface="Calibri"/>
              </a:rPr>
              <a:t>10-second windows of reading, moved forward 1 s at a time</a:t>
            </a:r>
          </a:p>
        </p:txBody>
      </p:sp>
      <p:sp>
        <p:nvSpPr>
          <p:cNvPr id="9" name="Rounded Rectangle 8"/>
          <p:cNvSpPr/>
          <p:nvPr/>
        </p:nvSpPr>
        <p:spPr>
          <a:xfrm>
            <a:off x="4389120" y="1783080"/>
            <a:ext cx="3520440" cy="19659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29384"/>
            <a:ext cx="3154680" cy="1691639"/>
          </a:xfrm>
          <a:prstGeom prst="rect">
            <a:avLst/>
          </a:prstGeom>
          <a:noFill/>
        </p:spPr>
        <p:txBody>
          <a:bodyPr wrap="square" lIns="0" rIns="0" tIns="0" bIns="0" anchor="t">
            <a:spAutoFit/>
          </a:bodyPr>
          <a:lstStyle/>
          <a:p>
            <a:pPr algn="l">
              <a:lnSpc>
                <a:spcPct val="100000"/>
              </a:lnSpc>
              <a:spcAft>
                <a:spcPts val="400"/>
              </a:spcAft>
            </a:pPr>
            <a:r>
              <a:rPr sz="1900" b="1">
                <a:solidFill>
                  <a:srgbClr val="0B0B0B"/>
                </a:solidFill>
                <a:latin typeface="Calibri"/>
              </a:rPr>
              <a:t>Label</a:t>
            </a:r>
          </a:p>
          <a:p>
            <a:pPr algn="l">
              <a:lnSpc>
                <a:spcPct val="100000"/>
              </a:lnSpc>
              <a:spcAft>
                <a:spcPts val="300"/>
              </a:spcAft>
            </a:pPr>
            <a:r>
              <a:rPr sz="1600" b="0">
                <a:solidFill>
                  <a:srgbClr val="52514E"/>
                </a:solidFill>
                <a:latin typeface="Calibri"/>
              </a:rPr>
              <a:t>“Confused” if the window ends 0–3 s before a click; windows containing a click are dropped</a:t>
            </a:r>
          </a:p>
        </p:txBody>
      </p:sp>
      <p:sp>
        <p:nvSpPr>
          <p:cNvPr id="11" name="Rounded Rectangle 10"/>
          <p:cNvSpPr/>
          <p:nvPr/>
        </p:nvSpPr>
        <p:spPr>
          <a:xfrm>
            <a:off x="8138159" y="1783080"/>
            <a:ext cx="352044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9" y="1929384"/>
            <a:ext cx="3154680" cy="1691639"/>
          </a:xfrm>
          <a:prstGeom prst="rect">
            <a:avLst/>
          </a:prstGeom>
          <a:noFill/>
        </p:spPr>
        <p:txBody>
          <a:bodyPr wrap="square" lIns="0" rIns="0" tIns="0" bIns="0" anchor="t">
            <a:spAutoFit/>
          </a:bodyPr>
          <a:lstStyle/>
          <a:p>
            <a:pPr algn="l">
              <a:lnSpc>
                <a:spcPct val="100000"/>
              </a:lnSpc>
              <a:spcAft>
                <a:spcPts val="400"/>
              </a:spcAft>
            </a:pPr>
            <a:r>
              <a:rPr sz="1900" b="1">
                <a:solidFill>
                  <a:srgbClr val="2A78D6"/>
                </a:solidFill>
                <a:latin typeface="Calibri"/>
              </a:rPr>
              <a:t>Features</a:t>
            </a:r>
          </a:p>
          <a:p>
            <a:pPr algn="l">
              <a:lnSpc>
                <a:spcPct val="100000"/>
              </a:lnSpc>
              <a:spcAft>
                <a:spcPts val="300"/>
              </a:spcAft>
            </a:pPr>
            <a:r>
              <a:rPr sz="1600" b="0">
                <a:solidFill>
                  <a:srgbClr val="52514E"/>
                </a:solidFill>
                <a:latin typeface="Calibri"/>
              </a:rPr>
              <a:t>13 behaviour measures — re-reading, fixation duration, jump size… No position, no line identity</a:t>
            </a:r>
          </a:p>
        </p:txBody>
      </p:sp>
      <p:sp>
        <p:nvSpPr>
          <p:cNvPr id="13" name="Rounded Rectangle 12"/>
          <p:cNvSpPr/>
          <p:nvPr/>
        </p:nvSpPr>
        <p:spPr>
          <a:xfrm>
            <a:off x="640080" y="3931920"/>
            <a:ext cx="352044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078224"/>
            <a:ext cx="3154680" cy="1691639"/>
          </a:xfrm>
          <a:prstGeom prst="rect">
            <a:avLst/>
          </a:prstGeom>
          <a:noFill/>
        </p:spPr>
        <p:txBody>
          <a:bodyPr wrap="square" lIns="0" rIns="0" tIns="0" bIns="0" anchor="t">
            <a:spAutoFit/>
          </a:bodyPr>
          <a:lstStyle/>
          <a:p>
            <a:pPr algn="l">
              <a:lnSpc>
                <a:spcPct val="100000"/>
              </a:lnSpc>
              <a:spcAft>
                <a:spcPts val="400"/>
              </a:spcAft>
            </a:pPr>
            <a:r>
              <a:rPr sz="1900" b="1">
                <a:solidFill>
                  <a:srgbClr val="2A78D6"/>
                </a:solidFill>
                <a:latin typeface="Calibri"/>
              </a:rPr>
              <a:t>Test</a:t>
            </a:r>
          </a:p>
          <a:p>
            <a:pPr algn="l">
              <a:lnSpc>
                <a:spcPct val="100000"/>
              </a:lnSpc>
              <a:spcAft>
                <a:spcPts val="300"/>
              </a:spcAft>
            </a:pPr>
            <a:r>
              <a:rPr sz="1600" b="0">
                <a:solidFill>
                  <a:srgbClr val="52514E"/>
                </a:solidFill>
                <a:latin typeface="Calibri"/>
              </a:rPr>
              <a:t>Leave-one-session-out: train on 19 sessions, test on the unseen 20th; every session is a new text</a:t>
            </a:r>
          </a:p>
        </p:txBody>
      </p:sp>
      <p:sp>
        <p:nvSpPr>
          <p:cNvPr id="15" name="Rounded Rectangle 14"/>
          <p:cNvSpPr/>
          <p:nvPr/>
        </p:nvSpPr>
        <p:spPr>
          <a:xfrm>
            <a:off x="4389120" y="3931920"/>
            <a:ext cx="3520440" cy="19659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078224"/>
            <a:ext cx="3154680" cy="1691639"/>
          </a:xfrm>
          <a:prstGeom prst="rect">
            <a:avLst/>
          </a:prstGeom>
          <a:noFill/>
        </p:spPr>
        <p:txBody>
          <a:bodyPr wrap="square" lIns="0" rIns="0" tIns="0" bIns="0" anchor="t">
            <a:spAutoFit/>
          </a:bodyPr>
          <a:lstStyle/>
          <a:p>
            <a:pPr algn="l">
              <a:lnSpc>
                <a:spcPct val="100000"/>
              </a:lnSpc>
              <a:spcAft>
                <a:spcPts val="400"/>
              </a:spcAft>
            </a:pPr>
            <a:r>
              <a:rPr sz="1900" b="1">
                <a:solidFill>
                  <a:srgbClr val="0B0B0B"/>
                </a:solidFill>
                <a:latin typeface="Calibri"/>
              </a:rPr>
              <a:t>Models</a:t>
            </a:r>
          </a:p>
          <a:p>
            <a:pPr algn="l">
              <a:lnSpc>
                <a:spcPct val="100000"/>
              </a:lnSpc>
              <a:spcAft>
                <a:spcPts val="300"/>
              </a:spcAft>
            </a:pPr>
            <a:r>
              <a:rPr sz="1600" b="0">
                <a:solidFill>
                  <a:srgbClr val="52514E"/>
                </a:solidFill>
                <a:latin typeface="Calibri"/>
              </a:rPr>
              <a:t>Random Forest and XGBoost, fixed random seed; code and results committed (train.py)</a:t>
            </a:r>
          </a:p>
        </p:txBody>
      </p:sp>
      <p:sp>
        <p:nvSpPr>
          <p:cNvPr id="17" name="Rounded Rectangle 16"/>
          <p:cNvSpPr/>
          <p:nvPr/>
        </p:nvSpPr>
        <p:spPr>
          <a:xfrm>
            <a:off x="8138159" y="3931920"/>
            <a:ext cx="3520440" cy="19659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9" y="4078224"/>
            <a:ext cx="3154680" cy="1691639"/>
          </a:xfrm>
          <a:prstGeom prst="rect">
            <a:avLst/>
          </a:prstGeom>
          <a:noFill/>
        </p:spPr>
        <p:txBody>
          <a:bodyPr wrap="square" lIns="0" rIns="0" tIns="0" bIns="0" anchor="t">
            <a:spAutoFit/>
          </a:bodyPr>
          <a:lstStyle/>
          <a:p>
            <a:pPr algn="l">
              <a:lnSpc>
                <a:spcPct val="100000"/>
              </a:lnSpc>
              <a:spcAft>
                <a:spcPts val="400"/>
              </a:spcAft>
            </a:pPr>
            <a:r>
              <a:rPr sz="1900" b="1">
                <a:solidFill>
                  <a:srgbClr val="0B0B0B"/>
                </a:solidFill>
                <a:latin typeface="Calibri"/>
              </a:rPr>
              <a:t>Data</a:t>
            </a:r>
          </a:p>
          <a:p>
            <a:pPr algn="l">
              <a:lnSpc>
                <a:spcPct val="100000"/>
              </a:lnSpc>
              <a:spcAft>
                <a:spcPts val="300"/>
              </a:spcAft>
            </a:pPr>
            <a:r>
              <a:rPr sz="1600" b="0">
                <a:solidFill>
                  <a:srgbClr val="52514E"/>
                </a:solidFill>
                <a:latin typeface="Calibri"/>
              </a:rPr>
              <a:t>2,357 windows from 20 sessions; 166 confused (7%)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4 · EXPERIMENTS</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Eye behaviour alone detects confusion on unseen texts: AUC 0.76</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13</a:t>
            </a:r>
          </a:p>
        </p:txBody>
      </p:sp>
      <p:pic>
        <p:nvPicPr>
          <p:cNvPr id="7" name="Picture 6" descr="exp2_auc.png"/>
          <p:cNvPicPr>
            <a:picLocks noChangeAspect="1"/>
          </p:cNvPicPr>
          <p:nvPr/>
        </p:nvPicPr>
        <p:blipFill>
          <a:blip r:embed="rId3"/>
          <a:stretch>
            <a:fillRect/>
          </a:stretch>
        </p:blipFill>
        <p:spPr>
          <a:xfrm>
            <a:off x="548640" y="1783080"/>
            <a:ext cx="6766560" cy="2384144"/>
          </a:xfrm>
          <a:prstGeom prst="rect">
            <a:avLst/>
          </a:prstGeom>
        </p:spPr>
      </p:pic>
      <p:sp>
        <p:nvSpPr>
          <p:cNvPr id="8" name="Rounded Rectangle 7"/>
          <p:cNvSpPr/>
          <p:nvPr/>
        </p:nvSpPr>
        <p:spPr>
          <a:xfrm>
            <a:off x="7635240" y="1783080"/>
            <a:ext cx="3977639" cy="11887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920240"/>
            <a:ext cx="1463040" cy="914400"/>
          </a:xfrm>
          <a:prstGeom prst="rect">
            <a:avLst/>
          </a:prstGeom>
          <a:noFill/>
        </p:spPr>
        <p:txBody>
          <a:bodyPr wrap="square" lIns="0" rIns="0" tIns="0" bIns="0" anchor="ctr">
            <a:spAutoFit/>
          </a:bodyPr>
          <a:lstStyle/>
          <a:p>
            <a:pPr algn="l">
              <a:lnSpc>
                <a:spcPct val="100000"/>
              </a:lnSpc>
              <a:spcAft>
                <a:spcPts val="600"/>
              </a:spcAft>
            </a:pPr>
            <a:r>
              <a:rPr sz="2600" b="1">
                <a:solidFill>
                  <a:srgbClr val="2A78D6"/>
                </a:solidFill>
                <a:latin typeface="Calibri"/>
              </a:rPr>
              <a:t>0.29</a:t>
            </a:r>
          </a:p>
        </p:txBody>
      </p:sp>
      <p:sp>
        <p:nvSpPr>
          <p:cNvPr id="10" name="TextBox 9"/>
          <p:cNvSpPr txBox="1"/>
          <p:nvPr/>
        </p:nvSpPr>
        <p:spPr>
          <a:xfrm>
            <a:off x="9326880" y="1920240"/>
            <a:ext cx="2194560" cy="914400"/>
          </a:xfrm>
          <a:prstGeom prst="rect">
            <a:avLst/>
          </a:prstGeom>
          <a:noFill/>
        </p:spPr>
        <p:txBody>
          <a:bodyPr wrap="square" lIns="0" rIns="0" tIns="0" bIns="0" anchor="ctr">
            <a:spAutoFit/>
          </a:bodyPr>
          <a:lstStyle/>
          <a:p>
            <a:pPr algn="l">
              <a:lnSpc>
                <a:spcPct val="100000"/>
              </a:lnSpc>
              <a:spcAft>
                <a:spcPts val="600"/>
              </a:spcAft>
            </a:pPr>
            <a:r>
              <a:rPr sz="1400" b="0">
                <a:solidFill>
                  <a:srgbClr val="52514E"/>
                </a:solidFill>
                <a:latin typeface="Calibri"/>
              </a:rPr>
              <a:t>PR-AUC vs 0.07 by chance — about 4× better at finding confused windows</a:t>
            </a:r>
          </a:p>
        </p:txBody>
      </p:sp>
      <p:sp>
        <p:nvSpPr>
          <p:cNvPr id="11" name="Rounded Rectangle 10"/>
          <p:cNvSpPr/>
          <p:nvPr/>
        </p:nvSpPr>
        <p:spPr>
          <a:xfrm>
            <a:off x="7635240" y="3108960"/>
            <a:ext cx="3977639" cy="11887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3246120"/>
            <a:ext cx="1463040" cy="914400"/>
          </a:xfrm>
          <a:prstGeom prst="rect">
            <a:avLst/>
          </a:prstGeom>
          <a:noFill/>
        </p:spPr>
        <p:txBody>
          <a:bodyPr wrap="square" lIns="0" rIns="0" tIns="0" bIns="0" anchor="ctr">
            <a:spAutoFit/>
          </a:bodyPr>
          <a:lstStyle/>
          <a:p>
            <a:pPr algn="l">
              <a:lnSpc>
                <a:spcPct val="100000"/>
              </a:lnSpc>
              <a:spcAft>
                <a:spcPts val="600"/>
              </a:spcAft>
            </a:pPr>
            <a:r>
              <a:rPr sz="2600" b="1">
                <a:solidFill>
                  <a:srgbClr val="2A78D6"/>
                </a:solidFill>
                <a:latin typeface="Calibri"/>
              </a:rPr>
              <a:t>18 / 19</a:t>
            </a:r>
          </a:p>
        </p:txBody>
      </p:sp>
      <p:sp>
        <p:nvSpPr>
          <p:cNvPr id="13" name="TextBox 12"/>
          <p:cNvSpPr txBox="1"/>
          <p:nvPr/>
        </p:nvSpPr>
        <p:spPr>
          <a:xfrm>
            <a:off x="9326880" y="3246120"/>
            <a:ext cx="2194560" cy="914400"/>
          </a:xfrm>
          <a:prstGeom prst="rect">
            <a:avLst/>
          </a:prstGeom>
          <a:noFill/>
        </p:spPr>
        <p:txBody>
          <a:bodyPr wrap="square" lIns="0" rIns="0" tIns="0" bIns="0" anchor="ctr">
            <a:spAutoFit/>
          </a:bodyPr>
          <a:lstStyle/>
          <a:p>
            <a:pPr algn="l">
              <a:lnSpc>
                <a:spcPct val="100000"/>
              </a:lnSpc>
              <a:spcAft>
                <a:spcPts val="600"/>
              </a:spcAft>
            </a:pPr>
            <a:r>
              <a:rPr sz="1400" b="0">
                <a:solidFill>
                  <a:srgbClr val="52514E"/>
                </a:solidFill>
                <a:latin typeface="Calibri"/>
              </a:rPr>
              <a:t>sessions with clicks where the model beats guessing</a:t>
            </a:r>
          </a:p>
        </p:txBody>
      </p:sp>
      <p:sp>
        <p:nvSpPr>
          <p:cNvPr id="14" name="Rounded Rectangle 13"/>
          <p:cNvSpPr/>
          <p:nvPr/>
        </p:nvSpPr>
        <p:spPr>
          <a:xfrm>
            <a:off x="7635240" y="4434840"/>
            <a:ext cx="3977639" cy="11887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4572000"/>
            <a:ext cx="1463040" cy="914400"/>
          </a:xfrm>
          <a:prstGeom prst="rect">
            <a:avLst/>
          </a:prstGeom>
          <a:noFill/>
        </p:spPr>
        <p:txBody>
          <a:bodyPr wrap="square" lIns="0" rIns="0" tIns="0" bIns="0" anchor="ctr">
            <a:spAutoFit/>
          </a:bodyPr>
          <a:lstStyle/>
          <a:p>
            <a:pPr algn="l">
              <a:lnSpc>
                <a:spcPct val="100000"/>
              </a:lnSpc>
              <a:spcAft>
                <a:spcPts val="600"/>
              </a:spcAft>
            </a:pPr>
            <a:r>
              <a:rPr sz="2600" b="1">
                <a:solidFill>
                  <a:srgbClr val="EB6834"/>
                </a:solidFill>
                <a:latin typeface="Calibri"/>
              </a:rPr>
              <a:t>−0.13</a:t>
            </a:r>
          </a:p>
        </p:txBody>
      </p:sp>
      <p:sp>
        <p:nvSpPr>
          <p:cNvPr id="16" name="TextBox 15"/>
          <p:cNvSpPr txBox="1"/>
          <p:nvPr/>
        </p:nvSpPr>
        <p:spPr>
          <a:xfrm>
            <a:off x="9326880" y="4572000"/>
            <a:ext cx="2194560" cy="914400"/>
          </a:xfrm>
          <a:prstGeom prst="rect">
            <a:avLst/>
          </a:prstGeom>
          <a:noFill/>
        </p:spPr>
        <p:txBody>
          <a:bodyPr wrap="square" lIns="0" rIns="0" tIns="0" bIns="0" anchor="ctr">
            <a:spAutoFit/>
          </a:bodyPr>
          <a:lstStyle/>
          <a:p>
            <a:pPr algn="l">
              <a:lnSpc>
                <a:spcPct val="100000"/>
              </a:lnSpc>
              <a:spcAft>
                <a:spcPts val="600"/>
              </a:spcAft>
            </a:pPr>
            <a:r>
              <a:rPr sz="1400" b="0">
                <a:solidFill>
                  <a:srgbClr val="52514E"/>
                </a:solidFill>
                <a:latin typeface="Calibri"/>
              </a:rPr>
              <a:t>AUC the old setup loses on unseen sessions → the leakage, measured</a:t>
            </a:r>
          </a:p>
        </p:txBody>
      </p:sp>
      <p:sp>
        <p:nvSpPr>
          <p:cNvPr id="17" name="TextBox 16"/>
          <p:cNvSpPr txBox="1"/>
          <p:nvPr/>
        </p:nvSpPr>
        <p:spPr>
          <a:xfrm>
            <a:off x="640080" y="4709160"/>
            <a:ext cx="6675120" cy="137160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Old and new numbers are not directly comparable (different labels and units). What matters: the old 0.87 came from a random split and was inflated; the new 0.76 is measured on unseen texts from the start.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4 · EXPERIMENTS</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What the results mean — and what they don't yet</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14</a:t>
            </a:r>
          </a:p>
        </p:txBody>
      </p:sp>
      <p:sp>
        <p:nvSpPr>
          <p:cNvPr id="7" name="Rounded Rectangle 6"/>
          <p:cNvSpPr/>
          <p:nvPr/>
        </p:nvSpPr>
        <p:spPr>
          <a:xfrm>
            <a:off x="640080" y="1783080"/>
            <a:ext cx="5394960" cy="36118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65960"/>
            <a:ext cx="4937760" cy="457200"/>
          </a:xfrm>
          <a:prstGeom prst="rect">
            <a:avLst/>
          </a:prstGeom>
          <a:noFill/>
        </p:spPr>
        <p:txBody>
          <a:bodyPr wrap="square" lIns="0" rIns="0" tIns="0" bIns="0" anchor="t">
            <a:spAutoFit/>
          </a:bodyPr>
          <a:lstStyle/>
          <a:p>
            <a:pPr algn="l">
              <a:lnSpc>
                <a:spcPct val="100000"/>
              </a:lnSpc>
              <a:spcAft>
                <a:spcPts val="600"/>
              </a:spcAft>
            </a:pPr>
            <a:r>
              <a:rPr sz="2100" b="1">
                <a:solidFill>
                  <a:srgbClr val="2A78D6"/>
                </a:solidFill>
                <a:latin typeface="Calibri"/>
              </a:rPr>
              <a:t>We can say</a:t>
            </a:r>
          </a:p>
        </p:txBody>
      </p:sp>
      <p:sp>
        <p:nvSpPr>
          <p:cNvPr id="9" name="TextBox 8"/>
          <p:cNvSpPr txBox="1"/>
          <p:nvPr/>
        </p:nvSpPr>
        <p:spPr>
          <a:xfrm>
            <a:off x="868680" y="2560320"/>
            <a:ext cx="4937760" cy="2743200"/>
          </a:xfrm>
          <a:prstGeom prst="rect">
            <a:avLst/>
          </a:prstGeom>
          <a:noFill/>
        </p:spPr>
        <p:txBody>
          <a:bodyPr wrap="square" lIns="0" rIns="0" tIns="0" bIns="0" anchor="t">
            <a:spAutoFit/>
          </a:bodyPr>
          <a:lstStyle/>
          <a:p>
            <a:pPr algn="l" marL="237744" indent="-237744">
              <a:lnSpc>
                <a:spcPct val="100000"/>
              </a:lnSpc>
              <a:spcAft>
                <a:spcPts val="1200"/>
              </a:spcAft>
              <a:buClr>
                <a:srgbClr val="2a78d6"/>
              </a:buClr>
              <a:buChar char="•"/>
            </a:pPr>
            <a:r>
              <a:rPr sz="1800" b="0">
                <a:solidFill>
                  <a:srgbClr val="0B0B0B"/>
                </a:solidFill>
                <a:latin typeface="Calibri"/>
              </a:rPr>
              <a:t>Eye behaviour carries a real confusion signal</a:t>
            </a:r>
          </a:p>
          <a:p>
            <a:pPr algn="l" marL="237744" indent="-237744">
              <a:lnSpc>
                <a:spcPct val="100000"/>
              </a:lnSpc>
              <a:spcAft>
                <a:spcPts val="1200"/>
              </a:spcAft>
              <a:buClr>
                <a:srgbClr val="2a78d6"/>
              </a:buClr>
              <a:buChar char="•"/>
            </a:pPr>
            <a:r>
              <a:rPr sz="1800" b="0">
                <a:solidFill>
                  <a:srgbClr val="0B0B0B"/>
                </a:solidFill>
                <a:latin typeface="Calibri"/>
              </a:rPr>
              <a:t>It works on texts the model has never seen (AUC 0.76)</a:t>
            </a:r>
          </a:p>
          <a:p>
            <a:pPr algn="l" marL="237744" indent="-237744">
              <a:lnSpc>
                <a:spcPct val="100000"/>
              </a:lnSpc>
              <a:spcAft>
                <a:spcPts val="1200"/>
              </a:spcAft>
              <a:buClr>
                <a:srgbClr val="2a78d6"/>
              </a:buClr>
              <a:buChar char="•"/>
            </a:pPr>
            <a:r>
              <a:rPr sz="1800" b="0">
                <a:solidFill>
                  <a:srgbClr val="0B0B0B"/>
                </a:solidFill>
                <a:latin typeface="Calibri"/>
              </a:rPr>
              <a:t>The old 0.87 was inflated by leakage</a:t>
            </a:r>
          </a:p>
        </p:txBody>
      </p:sp>
      <p:sp>
        <p:nvSpPr>
          <p:cNvPr id="10" name="Rounded Rectangle 9"/>
          <p:cNvSpPr/>
          <p:nvPr/>
        </p:nvSpPr>
        <p:spPr>
          <a:xfrm>
            <a:off x="6263640" y="1783080"/>
            <a:ext cx="5349240" cy="361188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65960"/>
            <a:ext cx="4937760" cy="457200"/>
          </a:xfrm>
          <a:prstGeom prst="rect">
            <a:avLst/>
          </a:prstGeom>
          <a:noFill/>
        </p:spPr>
        <p:txBody>
          <a:bodyPr wrap="square" lIns="0" rIns="0" tIns="0" bIns="0" anchor="t">
            <a:spAutoFit/>
          </a:bodyPr>
          <a:lstStyle/>
          <a:p>
            <a:pPr algn="l">
              <a:lnSpc>
                <a:spcPct val="100000"/>
              </a:lnSpc>
              <a:spcAft>
                <a:spcPts val="600"/>
              </a:spcAft>
            </a:pPr>
            <a:r>
              <a:rPr sz="2100" b="1">
                <a:solidFill>
                  <a:srgbClr val="EB6834"/>
                </a:solidFill>
                <a:latin typeface="Calibri"/>
              </a:rPr>
              <a:t>We cannot say yet</a:t>
            </a:r>
          </a:p>
        </p:txBody>
      </p:sp>
      <p:sp>
        <p:nvSpPr>
          <p:cNvPr id="12" name="TextBox 11"/>
          <p:cNvSpPr txBox="1"/>
          <p:nvPr/>
        </p:nvSpPr>
        <p:spPr>
          <a:xfrm>
            <a:off x="6492240" y="2560320"/>
            <a:ext cx="4937760" cy="2743200"/>
          </a:xfrm>
          <a:prstGeom prst="rect">
            <a:avLst/>
          </a:prstGeom>
          <a:noFill/>
        </p:spPr>
        <p:txBody>
          <a:bodyPr wrap="square" lIns="0" rIns="0" tIns="0" bIns="0" anchor="t">
            <a:spAutoFit/>
          </a:bodyPr>
          <a:lstStyle/>
          <a:p>
            <a:pPr algn="l" marL="237744" indent="-237744">
              <a:lnSpc>
                <a:spcPct val="100000"/>
              </a:lnSpc>
              <a:spcAft>
                <a:spcPts val="1200"/>
              </a:spcAft>
              <a:buClr>
                <a:srgbClr val="eb6834"/>
              </a:buClr>
              <a:buChar char="•"/>
            </a:pPr>
            <a:r>
              <a:rPr sz="1800" b="0">
                <a:solidFill>
                  <a:srgbClr val="0B0B0B"/>
                </a:solidFill>
                <a:latin typeface="Calibri"/>
              </a:rPr>
              <a:t>That it works </a:t>
            </a:r>
            <a:r>
              <a:rPr sz="1800" b="1">
                <a:solidFill>
                  <a:srgbClr val="0B0B0B"/>
                </a:solidFill>
                <a:latin typeface="Calibri"/>
              </a:rPr>
              <a:t>across people</a:t>
            </a:r>
            <a:r>
              <a:rPr sz="1800" b="0">
                <a:solidFill>
                  <a:srgbClr val="0B0B0B"/>
                </a:solidFill>
                <a:latin typeface="Calibri"/>
              </a:rPr>
              <a:t> — the old readers are unknown</a:t>
            </a:r>
          </a:p>
          <a:p>
            <a:pPr algn="l" marL="237744" indent="-237744">
              <a:lnSpc>
                <a:spcPct val="100000"/>
              </a:lnSpc>
              <a:spcAft>
                <a:spcPts val="1200"/>
              </a:spcAft>
              <a:buClr>
                <a:srgbClr val="eb6834"/>
              </a:buClr>
              <a:buChar char="•"/>
            </a:pPr>
            <a:r>
              <a:rPr sz="1800" b="0">
                <a:solidFill>
                  <a:srgbClr val="0B0B0B"/>
                </a:solidFill>
                <a:latin typeface="Calibri"/>
              </a:rPr>
              <a:t>That it works on the </a:t>
            </a:r>
            <a:r>
              <a:rPr sz="1800" b="1">
                <a:solidFill>
                  <a:srgbClr val="0B0B0B"/>
                </a:solidFill>
                <a:latin typeface="Calibri"/>
              </a:rPr>
              <a:t>new setup</a:t>
            </a:r>
            <a:r>
              <a:rPr sz="1800" b="0">
                <a:solidFill>
                  <a:srgbClr val="0B0B0B"/>
                </a:solidFill>
                <a:latin typeface="Calibri"/>
              </a:rPr>
              <a:t> — my test session was too small (46 windows, 9 confused) and recorded at 3× the sampling rate</a:t>
            </a:r>
          </a:p>
          <a:p>
            <a:pPr algn="l" marL="237744" indent="-237744">
              <a:lnSpc>
                <a:spcPct val="100000"/>
              </a:lnSpc>
              <a:spcAft>
                <a:spcPts val="1200"/>
              </a:spcAft>
              <a:buClr>
                <a:srgbClr val="eb6834"/>
              </a:buClr>
              <a:buChar char="•"/>
            </a:pPr>
            <a:r>
              <a:rPr sz="1800" b="0">
                <a:solidFill>
                  <a:srgbClr val="0B0B0B"/>
                </a:solidFill>
                <a:latin typeface="Calibri"/>
              </a:rPr>
              <a:t>Anything about fast saccades or </a:t>
            </a:r>
            <a:r>
              <a:rPr sz="1800" b="1">
                <a:solidFill>
                  <a:srgbClr val="0B0B0B"/>
                </a:solidFill>
                <a:latin typeface="Calibri"/>
              </a:rPr>
              <a:t>pupil size</a:t>
            </a:r>
            <a:r>
              <a:rPr sz="1800" b="0">
                <a:solidFill>
                  <a:srgbClr val="0B0B0B"/>
                </a:solidFill>
                <a:latin typeface="Calibri"/>
              </a:rPr>
              <a:t> — not measurable at 5–8 Hz</a:t>
            </a:r>
          </a:p>
        </p:txBody>
      </p:sp>
      <p:sp>
        <p:nvSpPr>
          <p:cNvPr id="13" name="TextBox 12"/>
          <p:cNvSpPr txBox="1"/>
          <p:nvPr/>
        </p:nvSpPr>
        <p:spPr>
          <a:xfrm>
            <a:off x="640080" y="5623560"/>
            <a:ext cx="10972800" cy="457200"/>
          </a:xfrm>
          <a:prstGeom prst="rect">
            <a:avLst/>
          </a:prstGeom>
          <a:noFill/>
        </p:spPr>
        <p:txBody>
          <a:bodyPr wrap="square" lIns="0" rIns="0" tIns="0" bIns="0" anchor="t">
            <a:spAutoFit/>
          </a:bodyPr>
          <a:lstStyle/>
          <a:p>
            <a:pPr algn="l">
              <a:lnSpc>
                <a:spcPct val="100000"/>
              </a:lnSpc>
              <a:spcAft>
                <a:spcPts val="600"/>
              </a:spcAft>
            </a:pPr>
            <a:r>
              <a:rPr sz="1700" b="1">
                <a:solidFill>
                  <a:srgbClr val="52514E"/>
                </a:solidFill>
                <a:latin typeface="Calibri"/>
              </a:rPr>
              <a:t>The open points on the right are exactly what Experiments 3 and 4 are designed to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STEP 5 · READY FOR NEW DATA</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Step 5 — The recording script is fixed for new data</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15</a:t>
            </a:r>
          </a:p>
        </p:txBody>
      </p:sp>
      <p:pic>
        <p:nvPicPr>
          <p:cNvPr id="7" name="Picture 6" descr="sampling_rate.png"/>
          <p:cNvPicPr>
            <a:picLocks noChangeAspect="1"/>
          </p:cNvPicPr>
          <p:nvPr/>
        </p:nvPicPr>
        <p:blipFill>
          <a:blip r:embed="rId3"/>
          <a:stretch>
            <a:fillRect/>
          </a:stretch>
        </p:blipFill>
        <p:spPr>
          <a:xfrm>
            <a:off x="640080" y="1828800"/>
            <a:ext cx="5394960" cy="1791785"/>
          </a:xfrm>
          <a:prstGeom prst="rect">
            <a:avLst/>
          </a:prstGeom>
        </p:spPr>
      </p:pic>
      <p:sp>
        <p:nvSpPr>
          <p:cNvPr id="8" name="TextBox 7"/>
          <p:cNvSpPr txBox="1"/>
          <p:nvPr/>
        </p:nvSpPr>
        <p:spPr>
          <a:xfrm>
            <a:off x="640080" y="4069080"/>
            <a:ext cx="5394960" cy="822960"/>
          </a:xfrm>
          <a:prstGeom prst="rect">
            <a:avLst/>
          </a:prstGeom>
          <a:noFill/>
        </p:spPr>
        <p:txBody>
          <a:bodyPr wrap="square" lIns="0" rIns="0" tIns="0" bIns="0" anchor="t">
            <a:spAutoFit/>
          </a:bodyPr>
          <a:lstStyle/>
          <a:p>
            <a:pPr algn="l">
              <a:lnSpc>
                <a:spcPct val="100000"/>
              </a:lnSpc>
              <a:spcAft>
                <a:spcPts val="600"/>
              </a:spcAft>
            </a:pPr>
            <a:r>
              <a:rPr sz="1500" b="0">
                <a:solidFill>
                  <a:srgbClr val="52514E"/>
                </a:solidFill>
                <a:latin typeface="Calibri"/>
              </a:rPr>
              <a:t>Same tracker, same PC — only the code changed. Tested live with the Tobii.</a:t>
            </a:r>
          </a:p>
        </p:txBody>
      </p:sp>
      <p:sp>
        <p:nvSpPr>
          <p:cNvPr id="9" name="TextBox 8"/>
          <p:cNvSpPr txBox="1"/>
          <p:nvPr/>
        </p:nvSpPr>
        <p:spPr>
          <a:xfrm>
            <a:off x="6400800" y="1783080"/>
            <a:ext cx="5212080" cy="4389120"/>
          </a:xfrm>
          <a:prstGeom prst="rect">
            <a:avLst/>
          </a:prstGeom>
          <a:noFill/>
        </p:spPr>
        <p:txBody>
          <a:bodyPr wrap="square" lIns="0" rIns="0" tIns="0" bIns="0" anchor="t">
            <a:spAutoFit/>
          </a:bodyPr>
          <a:lstStyle/>
          <a:p>
            <a:pPr algn="l" marL="237744" indent="-237744">
              <a:lnSpc>
                <a:spcPct val="100000"/>
              </a:lnSpc>
              <a:spcAft>
                <a:spcPts val="1000"/>
              </a:spcAft>
              <a:buClr>
                <a:srgbClr val="2a78d6"/>
              </a:buClr>
              <a:buChar char="•"/>
            </a:pPr>
            <a:r>
              <a:rPr sz="1600" b="1">
                <a:solidFill>
                  <a:srgbClr val="0B0B0B"/>
                </a:solidFill>
                <a:latin typeface="Calibri"/>
              </a:rPr>
              <a:t>collect.py</a:t>
            </a:r>
            <a:r>
              <a:rPr sz="1600" b="0">
                <a:solidFill>
                  <a:srgbClr val="0B0B0B"/>
                </a:solidFill>
                <a:latin typeface="Calibri"/>
              </a:rPr>
              <a:t> replaces cnn.py: one folder per session (participant_text_time), never appends</a:t>
            </a:r>
          </a:p>
          <a:p>
            <a:pPr algn="l" marL="237744" indent="-237744">
              <a:lnSpc>
                <a:spcPct val="100000"/>
              </a:lnSpc>
              <a:spcAft>
                <a:spcPts val="1000"/>
              </a:spcAft>
              <a:buClr>
                <a:srgbClr val="2a78d6"/>
              </a:buClr>
              <a:buChar char="•"/>
            </a:pPr>
            <a:r>
              <a:rPr sz="1600" b="0">
                <a:solidFill>
                  <a:srgbClr val="0B0B0B"/>
                </a:solidFill>
                <a:latin typeface="Calibri"/>
              </a:rPr>
              <a:t>Text lines captured inside each session; same validated code as the analysis</a:t>
            </a:r>
          </a:p>
          <a:p>
            <a:pPr algn="l" marL="237744" indent="-237744">
              <a:lnSpc>
                <a:spcPct val="100000"/>
              </a:lnSpc>
              <a:spcAft>
                <a:spcPts val="1000"/>
              </a:spcAft>
              <a:buClr>
                <a:srgbClr val="2a78d6"/>
              </a:buClr>
              <a:buChar char="•"/>
            </a:pPr>
            <a:r>
              <a:rPr sz="1600" b="0">
                <a:solidFill>
                  <a:srgbClr val="0B0B0B"/>
                </a:solidFill>
                <a:latin typeface="Calibri"/>
              </a:rPr>
              <a:t>meta.json records sampling rate, screen, settings and code version</a:t>
            </a:r>
          </a:p>
          <a:p>
            <a:pPr algn="l" marL="237744" indent="-237744">
              <a:lnSpc>
                <a:spcPct val="100000"/>
              </a:lnSpc>
              <a:spcAft>
                <a:spcPts val="1000"/>
              </a:spcAft>
              <a:buClr>
                <a:srgbClr val="2a78d6"/>
              </a:buClr>
              <a:buChar char="•"/>
            </a:pPr>
            <a:r>
              <a:rPr sz="1600" b="1">
                <a:solidFill>
                  <a:srgbClr val="0B0B0B"/>
                </a:solidFill>
                <a:latin typeface="Calibri"/>
              </a:rPr>
              <a:t>check_session.py</a:t>
            </a:r>
            <a:r>
              <a:rPr sz="1600" b="0">
                <a:solidFill>
                  <a:srgbClr val="0B0B0B"/>
                </a:solidFill>
                <a:latin typeface="Calibri"/>
              </a:rPr>
              <a:t>: PASS / WARN / FAIL quality check right after each recording</a:t>
            </a:r>
          </a:p>
          <a:p>
            <a:pPr algn="l" marL="237744" indent="-237744">
              <a:lnSpc>
                <a:spcPct val="100000"/>
              </a:lnSpc>
              <a:spcAft>
                <a:spcPts val="1000"/>
              </a:spcAft>
              <a:buClr>
                <a:srgbClr val="2a78d6"/>
              </a:buClr>
              <a:buChar char="•"/>
            </a:pPr>
            <a:r>
              <a:rPr sz="1600" b="1">
                <a:solidFill>
                  <a:srgbClr val="0B0B0B"/>
                </a:solidFill>
                <a:latin typeface="Calibri"/>
              </a:rPr>
              <a:t>PROTOCOL.md</a:t>
            </a:r>
            <a:r>
              <a:rPr sz="1600" b="0">
                <a:solidFill>
                  <a:srgbClr val="0B0B0B"/>
                </a:solidFill>
                <a:latin typeface="Calibri"/>
              </a:rPr>
              <a:t>: step-by-step procedure and word-for-word participant instructions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PARALLEL TRACK</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Webcam track — set up, camera test pending</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16</a:t>
            </a:r>
          </a:p>
        </p:txBody>
      </p:sp>
      <p:sp>
        <p:nvSpPr>
          <p:cNvPr id="7" name="Rounded Rectangle 6"/>
          <p:cNvSpPr/>
          <p:nvPr/>
        </p:nvSpPr>
        <p:spPr>
          <a:xfrm>
            <a:off x="640080" y="1783080"/>
            <a:ext cx="3520440" cy="30175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929384"/>
            <a:ext cx="3154680" cy="2743200"/>
          </a:xfrm>
          <a:prstGeom prst="rect">
            <a:avLst/>
          </a:prstGeom>
          <a:noFill/>
        </p:spPr>
        <p:txBody>
          <a:bodyPr wrap="square" lIns="0" rIns="0" tIns="0" bIns="0" anchor="t">
            <a:spAutoFit/>
          </a:bodyPr>
          <a:lstStyle/>
          <a:p>
            <a:pPr algn="l">
              <a:lnSpc>
                <a:spcPct val="100000"/>
              </a:lnSpc>
              <a:spcAft>
                <a:spcPts val="400"/>
              </a:spcAft>
            </a:pPr>
            <a:r>
              <a:rPr sz="1900" b="1">
                <a:solidFill>
                  <a:srgbClr val="0B0B0B"/>
                </a:solidFill>
                <a:latin typeface="Calibri"/>
              </a:rPr>
              <a:t>Status</a:t>
            </a:r>
          </a:p>
          <a:p>
            <a:pPr algn="l">
              <a:lnSpc>
                <a:spcPct val="100000"/>
              </a:lnSpc>
              <a:spcAft>
                <a:spcPts val="300"/>
              </a:spcAft>
            </a:pPr>
            <a:r>
              <a:rPr sz="1600" b="0">
                <a:solidFill>
                  <a:srgbClr val="52514E"/>
                </a:solidFill>
                <a:latin typeface="Calibri"/>
              </a:rPr>
              <a:t>Installed, builds and runs in the browser</a:t>
            </a:r>
          </a:p>
          <a:p>
            <a:pPr algn="l">
              <a:lnSpc>
                <a:spcPct val="100000"/>
              </a:lnSpc>
              <a:spcAft>
                <a:spcPts val="300"/>
              </a:spcAft>
            </a:pPr>
            <a:r>
              <a:rPr sz="1600" b="0">
                <a:solidFill>
                  <a:srgbClr val="52514E"/>
                </a:solidFill>
                <a:latin typeface="Calibri"/>
              </a:rPr>
              <a:t>Camera test pending — no webcam on this PC</a:t>
            </a:r>
          </a:p>
          <a:p>
            <a:pPr algn="l">
              <a:lnSpc>
                <a:spcPct val="100000"/>
              </a:lnSpc>
              <a:spcAft>
                <a:spcPts val="300"/>
              </a:spcAft>
            </a:pPr>
            <a:r>
              <a:rPr sz="1600" b="0">
                <a:solidFill>
                  <a:srgbClr val="52514E"/>
                </a:solidFill>
                <a:latin typeface="Calibri"/>
              </a:rPr>
              <a:t>Today: no logging, no calibration, gaze follows the head more than the eyes</a:t>
            </a:r>
          </a:p>
        </p:txBody>
      </p:sp>
      <p:sp>
        <p:nvSpPr>
          <p:cNvPr id="9" name="Rounded Rectangle 8"/>
          <p:cNvSpPr/>
          <p:nvPr/>
        </p:nvSpPr>
        <p:spPr>
          <a:xfrm>
            <a:off x="4343400" y="1783080"/>
            <a:ext cx="3520440" cy="30175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929384"/>
            <a:ext cx="3154680" cy="2743200"/>
          </a:xfrm>
          <a:prstGeom prst="rect">
            <a:avLst/>
          </a:prstGeom>
          <a:noFill/>
        </p:spPr>
        <p:txBody>
          <a:bodyPr wrap="square" lIns="0" rIns="0" tIns="0" bIns="0" anchor="t">
            <a:spAutoFit/>
          </a:bodyPr>
          <a:lstStyle/>
          <a:p>
            <a:pPr algn="l">
              <a:lnSpc>
                <a:spcPct val="100000"/>
              </a:lnSpc>
              <a:spcAft>
                <a:spcPts val="400"/>
              </a:spcAft>
            </a:pPr>
            <a:r>
              <a:rPr sz="1900" b="1">
                <a:solidFill>
                  <a:srgbClr val="2A78D6"/>
                </a:solidFill>
                <a:latin typeface="Calibri"/>
              </a:rPr>
              <a:t>What a webcam can do</a:t>
            </a:r>
          </a:p>
          <a:p>
            <a:pPr algn="l">
              <a:lnSpc>
                <a:spcPct val="100000"/>
              </a:lnSpc>
              <a:spcAft>
                <a:spcPts val="300"/>
              </a:spcAft>
            </a:pPr>
            <a:r>
              <a:rPr sz="1600" b="0">
                <a:solidFill>
                  <a:srgbClr val="52514E"/>
                </a:solidFill>
                <a:latin typeface="Calibri"/>
              </a:rPr>
              <a:t>Fixations and regressions (coarse)</a:t>
            </a:r>
          </a:p>
          <a:p>
            <a:pPr algn="l">
              <a:lnSpc>
                <a:spcPct val="100000"/>
              </a:lnSpc>
              <a:spcAft>
                <a:spcPts val="300"/>
              </a:spcAft>
            </a:pPr>
            <a:r>
              <a:rPr sz="1600" b="0">
                <a:solidFill>
                  <a:srgbClr val="52514E"/>
                </a:solidFill>
                <a:latin typeface="Calibri"/>
              </a:rPr>
              <a:t>Paragraph-level areas (not single lines)</a:t>
            </a:r>
          </a:p>
          <a:p>
            <a:pPr algn="l">
              <a:lnSpc>
                <a:spcPct val="100000"/>
              </a:lnSpc>
              <a:spcAft>
                <a:spcPts val="300"/>
              </a:spcAft>
            </a:pPr>
            <a:r>
              <a:rPr sz="1600" b="0">
                <a:solidFill>
                  <a:srgbClr val="52514E"/>
                </a:solidFill>
                <a:latin typeface="Calibri"/>
              </a:rPr>
              <a:t>Bonus: blink rate and brow furrow — the Tobii can't see these</a:t>
            </a:r>
          </a:p>
        </p:txBody>
      </p:sp>
      <p:sp>
        <p:nvSpPr>
          <p:cNvPr id="11" name="Rounded Rectangle 10"/>
          <p:cNvSpPr/>
          <p:nvPr/>
        </p:nvSpPr>
        <p:spPr>
          <a:xfrm>
            <a:off x="8046720" y="1783080"/>
            <a:ext cx="3566160" cy="3017520"/>
          </a:xfrm>
          <a:prstGeom prst="roundRect">
            <a:avLst>
              <a:gd name="adj" fmla="val 80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929384"/>
            <a:ext cx="3200400" cy="2743200"/>
          </a:xfrm>
          <a:prstGeom prst="rect">
            <a:avLst/>
          </a:prstGeom>
          <a:noFill/>
        </p:spPr>
        <p:txBody>
          <a:bodyPr wrap="square" lIns="0" rIns="0" tIns="0" bIns="0" anchor="t">
            <a:spAutoFit/>
          </a:bodyPr>
          <a:lstStyle/>
          <a:p>
            <a:pPr algn="l">
              <a:lnSpc>
                <a:spcPct val="100000"/>
              </a:lnSpc>
              <a:spcAft>
                <a:spcPts val="400"/>
              </a:spcAft>
            </a:pPr>
            <a:r>
              <a:rPr sz="1900" b="1">
                <a:solidFill>
                  <a:srgbClr val="EB6834"/>
                </a:solidFill>
                <a:latin typeface="Calibri"/>
              </a:rPr>
              <a:t>What it cannot do</a:t>
            </a:r>
          </a:p>
          <a:p>
            <a:pPr algn="l">
              <a:lnSpc>
                <a:spcPct val="100000"/>
              </a:lnSpc>
              <a:spcAft>
                <a:spcPts val="300"/>
              </a:spcAft>
            </a:pPr>
            <a:r>
              <a:rPr sz="1600" b="0">
                <a:solidFill>
                  <a:srgbClr val="52514E"/>
                </a:solidFill>
                <a:latin typeface="Calibri"/>
              </a:rPr>
              <a:t>Line-level analysis: error ~150 px vs a ~30 px line</a:t>
            </a:r>
          </a:p>
          <a:p>
            <a:pPr algn="l">
              <a:lnSpc>
                <a:spcPct val="100000"/>
              </a:lnSpc>
              <a:spcAft>
                <a:spcPts val="300"/>
              </a:spcAft>
            </a:pPr>
            <a:r>
              <a:rPr sz="1600" b="0">
                <a:solidFill>
                  <a:srgbClr val="52514E"/>
                </a:solidFill>
                <a:latin typeface="Calibri"/>
              </a:rPr>
              <a:t>Pupil size</a:t>
            </a:r>
          </a:p>
          <a:p>
            <a:pPr algn="l">
              <a:lnSpc>
                <a:spcPct val="100000"/>
              </a:lnSpc>
              <a:spcAft>
                <a:spcPts val="300"/>
              </a:spcAft>
            </a:pPr>
            <a:r>
              <a:rPr sz="1600" b="0">
                <a:solidFill>
                  <a:srgbClr val="52514E"/>
                </a:solidFill>
                <a:latin typeface="Calibri"/>
              </a:rPr>
              <a:t>Saccade speed (only ~30 frames/s)</a:t>
            </a:r>
          </a:p>
        </p:txBody>
      </p:sp>
      <p:sp>
        <p:nvSpPr>
          <p:cNvPr id="13" name="Rounded Rectangle 12"/>
          <p:cNvSpPr/>
          <p:nvPr/>
        </p:nvSpPr>
        <p:spPr>
          <a:xfrm>
            <a:off x="640080" y="4937760"/>
            <a:ext cx="10972800" cy="11887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5084064"/>
            <a:ext cx="10607040" cy="914400"/>
          </a:xfrm>
          <a:prstGeom prst="rect">
            <a:avLst/>
          </a:prstGeom>
          <a:noFill/>
        </p:spPr>
        <p:txBody>
          <a:bodyPr wrap="square" lIns="0" rIns="0" tIns="0" bIns="0" anchor="t">
            <a:spAutoFit/>
          </a:bodyPr>
          <a:lstStyle/>
          <a:p>
            <a:pPr algn="l">
              <a:lnSpc>
                <a:spcPct val="100000"/>
              </a:lnSpc>
              <a:spcAft>
                <a:spcPts val="400"/>
              </a:spcAft>
            </a:pPr>
            <a:r>
              <a:rPr sz="1700" b="1">
                <a:solidFill>
                  <a:srgbClr val="2A78D6"/>
                </a:solidFill>
                <a:latin typeface="Calibri"/>
              </a:rPr>
              <a:t>Plan (tasks W1 → W2 → W5)</a:t>
            </a:r>
          </a:p>
          <a:p>
            <a:pPr algn="l">
              <a:lnSpc>
                <a:spcPct val="100000"/>
              </a:lnSpc>
              <a:spcAft>
                <a:spcPts val="300"/>
              </a:spcAft>
            </a:pPr>
            <a:r>
              <a:rPr sz="1600" b="0">
                <a:solidFill>
                  <a:srgbClr val="52514E"/>
                </a:solidFill>
                <a:latin typeface="Calibri"/>
              </a:rPr>
              <a:t>Add logging and a “confused” button → add calibration → record webcam and Tobii together to measure how much accuracy a webcam loses.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PLAN</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Next steps — and what I need from you</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17</a:t>
            </a:r>
          </a:p>
        </p:txBody>
      </p:sp>
      <p:sp>
        <p:nvSpPr>
          <p:cNvPr id="7" name="TextBox 6"/>
          <p:cNvSpPr txBox="1"/>
          <p:nvPr/>
        </p:nvSpPr>
        <p:spPr>
          <a:xfrm>
            <a:off x="640080" y="1691640"/>
            <a:ext cx="5486400" cy="457200"/>
          </a:xfrm>
          <a:prstGeom prst="rect">
            <a:avLst/>
          </a:prstGeom>
          <a:noFill/>
        </p:spPr>
        <p:txBody>
          <a:bodyPr wrap="square" lIns="0" rIns="0" tIns="0" bIns="0" anchor="t">
            <a:spAutoFit/>
          </a:bodyPr>
          <a:lstStyle/>
          <a:p>
            <a:pPr algn="l">
              <a:lnSpc>
                <a:spcPct val="100000"/>
              </a:lnSpc>
              <a:spcAft>
                <a:spcPts val="600"/>
              </a:spcAft>
            </a:pPr>
            <a:r>
              <a:rPr sz="2000" b="1">
                <a:solidFill>
                  <a:srgbClr val="0B0B0B"/>
                </a:solidFill>
                <a:latin typeface="Calibri"/>
              </a:rPr>
              <a:t>Experiment 3 — new data, known readers</a:t>
            </a:r>
          </a:p>
        </p:txBody>
      </p:sp>
      <p:sp>
        <p:nvSpPr>
          <p:cNvPr id="8" name="TextBox 7"/>
          <p:cNvSpPr txBox="1"/>
          <p:nvPr/>
        </p:nvSpPr>
        <p:spPr>
          <a:xfrm>
            <a:off x="640080" y="2240280"/>
            <a:ext cx="5486400" cy="3840480"/>
          </a:xfrm>
          <a:prstGeom prst="rect">
            <a:avLst/>
          </a:prstGeom>
          <a:noFill/>
        </p:spPr>
        <p:txBody>
          <a:bodyPr wrap="square" lIns="0" rIns="0" tIns="0" bIns="0" anchor="t">
            <a:spAutoFit/>
          </a:bodyPr>
          <a:lstStyle/>
          <a:p>
            <a:pPr algn="l" marL="237744" indent="-237744">
              <a:lnSpc>
                <a:spcPct val="100000"/>
              </a:lnSpc>
              <a:spcAft>
                <a:spcPts val="1000"/>
              </a:spcAft>
              <a:buClr>
                <a:srgbClr val="2a78d6"/>
              </a:buClr>
              <a:buChar char="•"/>
            </a:pPr>
            <a:r>
              <a:rPr sz="1700" b="0">
                <a:solidFill>
                  <a:srgbClr val="0B0B0B"/>
                </a:solidFill>
                <a:latin typeface="Calibri"/>
              </a:rPr>
              <a:t>3 texts: easy, medium, hard (hard texts produce real confusion)</a:t>
            </a:r>
          </a:p>
          <a:p>
            <a:pPr algn="l" marL="237744" indent="-237744">
              <a:lnSpc>
                <a:spcPct val="100000"/>
              </a:lnSpc>
              <a:spcAft>
                <a:spcPts val="1000"/>
              </a:spcAft>
              <a:buClr>
                <a:srgbClr val="2a78d6"/>
              </a:buClr>
              <a:buChar char="•"/>
            </a:pPr>
            <a:r>
              <a:rPr sz="1700" b="0">
                <a:solidFill>
                  <a:srgbClr val="0B0B0B"/>
                </a:solidFill>
                <a:latin typeface="Calibri"/>
              </a:rPr>
              <a:t>10–12 participants (anonymous ids P01, P02, …), all three texts each, in rotated order</a:t>
            </a:r>
          </a:p>
          <a:p>
            <a:pPr algn="l" marL="237744" indent="-237744">
              <a:lnSpc>
                <a:spcPct val="100000"/>
              </a:lnSpc>
              <a:spcAft>
                <a:spcPts val="1000"/>
              </a:spcAft>
              <a:buClr>
                <a:srgbClr val="2a78d6"/>
              </a:buClr>
              <a:buChar char="•"/>
            </a:pPr>
            <a:r>
              <a:rPr sz="1700" b="0">
                <a:solidFill>
                  <a:srgbClr val="0B0B0B"/>
                </a:solidFill>
                <a:latin typeface="Calibri"/>
              </a:rPr>
              <a:t>Protocol, recording script and quality check are ready</a:t>
            </a:r>
          </a:p>
          <a:p>
            <a:pPr algn="l" marL="237744" indent="-237744">
              <a:lnSpc>
                <a:spcPct val="100000"/>
              </a:lnSpc>
              <a:spcAft>
                <a:spcPts val="1000"/>
              </a:spcAft>
              <a:buClr>
                <a:srgbClr val="2a78d6"/>
              </a:buClr>
              <a:buChar char="•"/>
            </a:pPr>
            <a:r>
              <a:rPr sz="1700" b="0">
                <a:solidFill>
                  <a:srgbClr val="0B0B0B"/>
                </a:solidFill>
                <a:latin typeface="Calibri"/>
              </a:rPr>
              <a:t>Then: </a:t>
            </a:r>
            <a:r>
              <a:rPr sz="1700" b="1">
                <a:solidFill>
                  <a:srgbClr val="0B0B0B"/>
                </a:solidFill>
                <a:latin typeface="Calibri"/>
              </a:rPr>
              <a:t>leave-one-participant-out</a:t>
            </a:r>
            <a:r>
              <a:rPr sz="1700" b="0">
                <a:solidFill>
                  <a:srgbClr val="0B0B0B"/>
                </a:solidFill>
                <a:latin typeface="Calibri"/>
              </a:rPr>
              <a:t> — does it work across people?</a:t>
            </a:r>
          </a:p>
          <a:p>
            <a:pPr algn="l" marL="237744" indent="-237744">
              <a:lnSpc>
                <a:spcPct val="100000"/>
              </a:lnSpc>
              <a:spcAft>
                <a:spcPts val="1000"/>
              </a:spcAft>
              <a:buClr>
                <a:srgbClr val="2a78d6"/>
              </a:buClr>
              <a:buChar char="•"/>
            </a:pPr>
            <a:r>
              <a:rPr sz="1700" b="0">
                <a:solidFill>
                  <a:srgbClr val="0B0B0B"/>
                </a:solidFill>
                <a:latin typeface="Calibri"/>
              </a:rPr>
              <a:t>Later: record webcam and Tobii together to measure the webcam's accuracy</a:t>
            </a:r>
          </a:p>
        </p:txBody>
      </p:sp>
      <p:sp>
        <p:nvSpPr>
          <p:cNvPr id="9" name="Rounded Rectangle 8"/>
          <p:cNvSpPr/>
          <p:nvPr/>
        </p:nvSpPr>
        <p:spPr>
          <a:xfrm>
            <a:off x="6492240" y="1691640"/>
            <a:ext cx="5120640" cy="4389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874519"/>
            <a:ext cx="4754880" cy="457200"/>
          </a:xfrm>
          <a:prstGeom prst="rect">
            <a:avLst/>
          </a:prstGeom>
          <a:noFill/>
        </p:spPr>
        <p:txBody>
          <a:bodyPr wrap="square" lIns="0" rIns="0" tIns="0" bIns="0" anchor="t">
            <a:spAutoFit/>
          </a:bodyPr>
          <a:lstStyle/>
          <a:p>
            <a:pPr algn="l">
              <a:lnSpc>
                <a:spcPct val="100000"/>
              </a:lnSpc>
              <a:spcAft>
                <a:spcPts val="600"/>
              </a:spcAft>
            </a:pPr>
            <a:r>
              <a:rPr sz="2000" b="1">
                <a:solidFill>
                  <a:srgbClr val="2A78D6"/>
                </a:solidFill>
                <a:latin typeface="Calibri"/>
              </a:rPr>
              <a:t>Decisions I need</a:t>
            </a:r>
          </a:p>
        </p:txBody>
      </p:sp>
      <p:sp>
        <p:nvSpPr>
          <p:cNvPr id="11" name="TextBox 10"/>
          <p:cNvSpPr txBox="1"/>
          <p:nvPr/>
        </p:nvSpPr>
        <p:spPr>
          <a:xfrm>
            <a:off x="6720840" y="2468880"/>
            <a:ext cx="4709160" cy="3474720"/>
          </a:xfrm>
          <a:prstGeom prst="rect">
            <a:avLst/>
          </a:prstGeom>
          <a:noFill/>
        </p:spPr>
        <p:txBody>
          <a:bodyPr wrap="square" lIns="0" rIns="0" tIns="0" bIns="0" anchor="t">
            <a:spAutoFit/>
          </a:bodyPr>
          <a:lstStyle/>
          <a:p>
            <a:pPr algn="l">
              <a:lnSpc>
                <a:spcPct val="100000"/>
              </a:lnSpc>
              <a:spcAft>
                <a:spcPts val="1200"/>
              </a:spcAft>
            </a:pPr>
            <a:r>
              <a:rPr sz="1700" b="0">
                <a:solidFill>
                  <a:srgbClr val="0B0B0B"/>
                </a:solidFill>
                <a:latin typeface="Calibri"/>
              </a:rPr>
              <a:t>1.  Approve the texts and the 10–12 participant plan</a:t>
            </a:r>
          </a:p>
          <a:p>
            <a:pPr algn="l">
              <a:lnSpc>
                <a:spcPct val="100000"/>
              </a:lnSpc>
              <a:spcAft>
                <a:spcPts val="1200"/>
              </a:spcAft>
            </a:pPr>
            <a:r>
              <a:rPr sz="1700" b="0">
                <a:solidFill>
                  <a:srgbClr val="0B0B0B"/>
                </a:solidFill>
                <a:latin typeface="Calibri"/>
              </a:rPr>
              <a:t>2.  Ethics / consent process for recording participants</a:t>
            </a:r>
          </a:p>
          <a:p>
            <a:pPr algn="l">
              <a:lnSpc>
                <a:spcPct val="100000"/>
              </a:lnSpc>
              <a:spcAft>
                <a:spcPts val="1200"/>
              </a:spcAft>
            </a:pPr>
            <a:r>
              <a:rPr sz="1700" b="0">
                <a:solidFill>
                  <a:srgbClr val="0B0B0B"/>
                </a:solidFill>
                <a:latin typeface="Calibri"/>
              </a:rPr>
              <a:t>3.  Tobii Pro device or SDK licence? (pupil size + real saccades — Experiment 4)</a:t>
            </a:r>
          </a:p>
          <a:p>
            <a:pPr algn="l">
              <a:lnSpc>
                <a:spcPct val="100000"/>
              </a:lnSpc>
              <a:spcAft>
                <a:spcPts val="1200"/>
              </a:spcAft>
            </a:pPr>
            <a:r>
              <a:rPr sz="1700" b="0">
                <a:solidFill>
                  <a:srgbClr val="0B0B0B"/>
                </a:solidFill>
                <a:latin typeface="Calibri"/>
              </a:rPr>
              <a:t>4.  A webcam for the webcam track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SUMMARY</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Summary</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18</a:t>
            </a:r>
          </a:p>
        </p:txBody>
      </p:sp>
      <p:sp>
        <p:nvSpPr>
          <p:cNvPr id="7" name="Rounded Rectangle 6"/>
          <p:cNvSpPr/>
          <p:nvPr/>
        </p:nvSpPr>
        <p:spPr>
          <a:xfrm>
            <a:off x="640080" y="1737360"/>
            <a:ext cx="10972800" cy="93268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548640" cy="73152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1</a:t>
            </a:r>
          </a:p>
        </p:txBody>
      </p:sp>
      <p:sp>
        <p:nvSpPr>
          <p:cNvPr id="9" name="TextBox 8"/>
          <p:cNvSpPr txBox="1"/>
          <p:nvPr/>
        </p:nvSpPr>
        <p:spPr>
          <a:xfrm>
            <a:off x="1554480" y="1847088"/>
            <a:ext cx="9875520" cy="731520"/>
          </a:xfrm>
          <a:prstGeom prst="rect">
            <a:avLst/>
          </a:prstGeom>
          <a:noFill/>
        </p:spPr>
        <p:txBody>
          <a:bodyPr wrap="square" lIns="0" rIns="0" tIns="0" bIns="0" anchor="ctr">
            <a:spAutoFit/>
          </a:bodyPr>
          <a:lstStyle/>
          <a:p>
            <a:pPr algn="l">
              <a:lnSpc>
                <a:spcPct val="100000"/>
              </a:lnSpc>
              <a:spcAft>
                <a:spcPts val="600"/>
              </a:spcAft>
            </a:pPr>
            <a:r>
              <a:rPr sz="2000" b="0">
                <a:solidFill>
                  <a:srgbClr val="0B0B0B"/>
                </a:solidFill>
                <a:latin typeface="Calibri"/>
              </a:rPr>
              <a:t>The pipeline runs end to end; every fix is versioned and checked.</a:t>
            </a:r>
          </a:p>
        </p:txBody>
      </p:sp>
      <p:sp>
        <p:nvSpPr>
          <p:cNvPr id="10" name="Rounded Rectangle 9"/>
          <p:cNvSpPr/>
          <p:nvPr/>
        </p:nvSpPr>
        <p:spPr>
          <a:xfrm>
            <a:off x="640080" y="2761488"/>
            <a:ext cx="10972800" cy="93268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71216"/>
            <a:ext cx="548640" cy="73152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2</a:t>
            </a:r>
          </a:p>
        </p:txBody>
      </p:sp>
      <p:sp>
        <p:nvSpPr>
          <p:cNvPr id="12" name="TextBox 11"/>
          <p:cNvSpPr txBox="1"/>
          <p:nvPr/>
        </p:nvSpPr>
        <p:spPr>
          <a:xfrm>
            <a:off x="1554480" y="2871216"/>
            <a:ext cx="9875520" cy="731520"/>
          </a:xfrm>
          <a:prstGeom prst="rect">
            <a:avLst/>
          </a:prstGeom>
          <a:noFill/>
        </p:spPr>
        <p:txBody>
          <a:bodyPr wrap="square" lIns="0" rIns="0" tIns="0" bIns="0" anchor="ctr">
            <a:spAutoFit/>
          </a:bodyPr>
          <a:lstStyle/>
          <a:p>
            <a:pPr algn="l">
              <a:lnSpc>
                <a:spcPct val="100000"/>
              </a:lnSpc>
              <a:spcAft>
                <a:spcPts val="600"/>
              </a:spcAft>
            </a:pPr>
            <a:r>
              <a:rPr sz="2000" b="0">
                <a:solidFill>
                  <a:srgbClr val="0B0B0B"/>
                </a:solidFill>
                <a:latin typeface="Calibri"/>
              </a:rPr>
              <a:t>The old model learned where confusing lines were — its accuracy was not valid.</a:t>
            </a:r>
          </a:p>
        </p:txBody>
      </p:sp>
      <p:sp>
        <p:nvSpPr>
          <p:cNvPr id="13" name="Rounded Rectangle 12"/>
          <p:cNvSpPr/>
          <p:nvPr/>
        </p:nvSpPr>
        <p:spPr>
          <a:xfrm>
            <a:off x="640080" y="3785616"/>
            <a:ext cx="10972800" cy="932688"/>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95344"/>
            <a:ext cx="548640" cy="73152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3</a:t>
            </a:r>
          </a:p>
        </p:txBody>
      </p:sp>
      <p:sp>
        <p:nvSpPr>
          <p:cNvPr id="15" name="TextBox 14"/>
          <p:cNvSpPr txBox="1"/>
          <p:nvPr/>
        </p:nvSpPr>
        <p:spPr>
          <a:xfrm>
            <a:off x="1554480" y="3895344"/>
            <a:ext cx="9875520" cy="731520"/>
          </a:xfrm>
          <a:prstGeom prst="rect">
            <a:avLst/>
          </a:prstGeom>
          <a:noFill/>
        </p:spPr>
        <p:txBody>
          <a:bodyPr wrap="square" lIns="0" rIns="0" tIns="0" bIns="0" anchor="ctr">
            <a:spAutoFit/>
          </a:bodyPr>
          <a:lstStyle/>
          <a:p>
            <a:pPr algn="l">
              <a:lnSpc>
                <a:spcPct val="100000"/>
              </a:lnSpc>
              <a:spcAft>
                <a:spcPts val="600"/>
              </a:spcAft>
            </a:pPr>
            <a:r>
              <a:rPr sz="2000" b="1">
                <a:solidFill>
                  <a:srgbClr val="0B0B0B"/>
                </a:solidFill>
                <a:latin typeface="Calibri"/>
              </a:rPr>
              <a:t>Eye behaviour alone detects confusion on unseen texts: AUC 0.76, ~4× chance PR-AUC.</a:t>
            </a:r>
          </a:p>
        </p:txBody>
      </p:sp>
      <p:sp>
        <p:nvSpPr>
          <p:cNvPr id="16" name="Rounded Rectangle 15"/>
          <p:cNvSpPr/>
          <p:nvPr/>
        </p:nvSpPr>
        <p:spPr>
          <a:xfrm>
            <a:off x="640080" y="4809744"/>
            <a:ext cx="10972800" cy="93268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19472"/>
            <a:ext cx="548640" cy="731520"/>
          </a:xfrm>
          <a:prstGeom prst="rect">
            <a:avLst/>
          </a:prstGeom>
          <a:noFill/>
        </p:spPr>
        <p:txBody>
          <a:bodyPr wrap="square" lIns="0" rIns="0" tIns="0" bIns="0" anchor="ctr">
            <a:spAutoFit/>
          </a:bodyPr>
          <a:lstStyle/>
          <a:p>
            <a:pPr algn="l">
              <a:lnSpc>
                <a:spcPct val="100000"/>
              </a:lnSpc>
              <a:spcAft>
                <a:spcPts val="600"/>
              </a:spcAft>
            </a:pPr>
            <a:r>
              <a:rPr sz="3000" b="1">
                <a:solidFill>
                  <a:srgbClr val="2A78D6"/>
                </a:solidFill>
                <a:latin typeface="Calibri"/>
              </a:rPr>
              <a:t>4</a:t>
            </a:r>
          </a:p>
        </p:txBody>
      </p:sp>
      <p:sp>
        <p:nvSpPr>
          <p:cNvPr id="18" name="TextBox 17"/>
          <p:cNvSpPr txBox="1"/>
          <p:nvPr/>
        </p:nvSpPr>
        <p:spPr>
          <a:xfrm>
            <a:off x="1554480" y="4919472"/>
            <a:ext cx="9875520" cy="731520"/>
          </a:xfrm>
          <a:prstGeom prst="rect">
            <a:avLst/>
          </a:prstGeom>
          <a:noFill/>
        </p:spPr>
        <p:txBody>
          <a:bodyPr wrap="square" lIns="0" rIns="0" tIns="0" bIns="0" anchor="ctr">
            <a:spAutoFit/>
          </a:bodyPr>
          <a:lstStyle/>
          <a:p>
            <a:pPr algn="l">
              <a:lnSpc>
                <a:spcPct val="100000"/>
              </a:lnSpc>
              <a:spcAft>
                <a:spcPts val="600"/>
              </a:spcAft>
            </a:pPr>
            <a:r>
              <a:rPr sz="2000" b="0">
                <a:solidFill>
                  <a:srgbClr val="0B0B0B"/>
                </a:solidFill>
                <a:latin typeface="Calibri"/>
              </a:rPr>
              <a:t>Next: 10–12 known readers to test whether this holds across people.</a:t>
            </a:r>
          </a:p>
        </p:txBody>
      </p:sp>
      <p:sp>
        <p:nvSpPr>
          <p:cNvPr id="19" name="TextBox 18"/>
          <p:cNvSpPr txBox="1"/>
          <p:nvPr/>
        </p:nvSpPr>
        <p:spPr>
          <a:xfrm>
            <a:off x="640080" y="5897880"/>
            <a:ext cx="10972800" cy="320040"/>
          </a:xfrm>
          <a:prstGeom prst="rect">
            <a:avLst/>
          </a:prstGeom>
          <a:noFill/>
        </p:spPr>
        <p:txBody>
          <a:bodyPr wrap="square" lIns="0" rIns="0" tIns="0" bIns="0" anchor="t">
            <a:spAutoFit/>
          </a:bodyPr>
          <a:lstStyle/>
          <a:p>
            <a:pPr algn="l">
              <a:lnSpc>
                <a:spcPct val="100000"/>
              </a:lnSpc>
              <a:spcAft>
                <a:spcPts val="600"/>
              </a:spcAft>
            </a:pPr>
            <a:r>
              <a:rPr sz="1600" b="1">
                <a:solidFill>
                  <a:srgbClr val="2A78D6"/>
                </a:solidFill>
                <a:latin typeface="Calibri"/>
              </a:rPr>
              <a:t>Thank you — questions?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APPENDIX · PREPARATION</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Questions I may be asked (1/2)</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19</a:t>
            </a:r>
          </a:p>
        </p:txBody>
      </p:sp>
      <p:sp>
        <p:nvSpPr>
          <p:cNvPr id="7" name="Rounded Rectangle 6"/>
          <p:cNvSpPr/>
          <p:nvPr/>
        </p:nvSpPr>
        <p:spPr>
          <a:xfrm>
            <a:off x="640080" y="1737360"/>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8366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Why is the new accuracy lower than the old one?</a:t>
            </a:r>
          </a:p>
          <a:p>
            <a:pPr algn="l">
              <a:lnSpc>
                <a:spcPct val="100000"/>
              </a:lnSpc>
              <a:spcAft>
                <a:spcPts val="300"/>
              </a:spcAft>
            </a:pPr>
            <a:r>
              <a:rPr sz="1400" b="0">
                <a:solidFill>
                  <a:srgbClr val="52514E"/>
                </a:solidFill>
                <a:latin typeface="Calibri"/>
              </a:rPr>
              <a:t>The old 0.87 came from a random split: the model was tested on other fixations from the same texts and lines it trained on. Tested on unseen sessions it falls to 0.74. Our 0.76 is measured on unseen texts from the start.</a:t>
            </a:r>
          </a:p>
        </p:txBody>
      </p:sp>
      <p:sp>
        <p:nvSpPr>
          <p:cNvPr id="9" name="Rounded Rectangle 8"/>
          <p:cNvSpPr/>
          <p:nvPr/>
        </p:nvSpPr>
        <p:spPr>
          <a:xfrm>
            <a:off x="6263640" y="1737360"/>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8366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Why 10-second windows instead of single fixations?</a:t>
            </a:r>
          </a:p>
          <a:p>
            <a:pPr algn="l">
              <a:lnSpc>
                <a:spcPct val="100000"/>
              </a:lnSpc>
              <a:spcAft>
                <a:spcPts val="300"/>
              </a:spcAft>
            </a:pPr>
            <a:r>
              <a:rPr sz="1400" b="0">
                <a:solidFill>
                  <a:srgbClr val="52514E"/>
                </a:solidFill>
                <a:latin typeface="Calibri"/>
              </a:rPr>
              <a:t>Confusion lasts seconds, single fixations at 5–8 Hz are noisy, and the literature uses 10–15 s windows. Results hold for 5, 10 and 15 s.</a:t>
            </a:r>
          </a:p>
        </p:txBody>
      </p:sp>
      <p:sp>
        <p:nvSpPr>
          <p:cNvPr id="11" name="Rounded Rectangle 10"/>
          <p:cNvSpPr/>
          <p:nvPr/>
        </p:nvSpPr>
        <p:spPr>
          <a:xfrm>
            <a:off x="640080" y="3977639"/>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12394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Why “0–3 s before the click”?</a:t>
            </a:r>
          </a:p>
          <a:p>
            <a:pPr algn="l">
              <a:lnSpc>
                <a:spcPct val="100000"/>
              </a:lnSpc>
              <a:spcAft>
                <a:spcPts val="300"/>
              </a:spcAft>
            </a:pPr>
            <a:r>
              <a:rPr sz="1400" b="0">
                <a:solidFill>
                  <a:srgbClr val="52514E"/>
                </a:solidFill>
                <a:latin typeface="Calibri"/>
              </a:rPr>
              <a:t>Readers click after they notice they're confused. The window holds the reading that led to the click, but not the movement to the button and back.</a:t>
            </a:r>
          </a:p>
        </p:txBody>
      </p:sp>
      <p:sp>
        <p:nvSpPr>
          <p:cNvPr id="13" name="Rounded Rectangle 12"/>
          <p:cNvSpPr/>
          <p:nvPr/>
        </p:nvSpPr>
        <p:spPr>
          <a:xfrm>
            <a:off x="6263640" y="3977639"/>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2394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Isn't the effect just looking at the button?</a:t>
            </a:r>
          </a:p>
          <a:p>
            <a:pPr algn="l">
              <a:lnSpc>
                <a:spcPct val="100000"/>
              </a:lnSpc>
              <a:spcAft>
                <a:spcPts val="300"/>
              </a:spcAft>
            </a:pPr>
            <a:r>
              <a:rPr sz="1400" b="0">
                <a:solidFill>
                  <a:srgbClr val="52514E"/>
                </a:solidFill>
                <a:latin typeface="Calibri"/>
              </a:rPr>
              <a:t>No: zero fixations landed on the button inside the windows, and the result is the same using only fixations on text lines.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APPENDIX · PREPARATION</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Questions I may be asked (2/2)</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20</a:t>
            </a:r>
          </a:p>
        </p:txBody>
      </p:sp>
      <p:sp>
        <p:nvSpPr>
          <p:cNvPr id="7" name="Rounded Rectangle 6"/>
          <p:cNvSpPr/>
          <p:nvPr/>
        </p:nvSpPr>
        <p:spPr>
          <a:xfrm>
            <a:off x="640080" y="1737360"/>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8366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Why does your own session (s21) score near chance?</a:t>
            </a:r>
          </a:p>
          <a:p>
            <a:pPr algn="l">
              <a:lnSpc>
                <a:spcPct val="100000"/>
              </a:lnSpc>
              <a:spcAft>
                <a:spcPts val="300"/>
              </a:spcAft>
            </a:pPr>
            <a:r>
              <a:rPr sz="1400" b="0">
                <a:solidFill>
                  <a:srgbClr val="52514E"/>
                </a:solidFill>
                <a:latin typeface="Calibri"/>
              </a:rPr>
              <a:t>Only 46 windows (9 confused), a different reader, and 3× the sampling rate, which changes features such as fixation counts. Too small to judge — that's why Experiment 3 is needed.</a:t>
            </a:r>
          </a:p>
        </p:txBody>
      </p:sp>
      <p:sp>
        <p:nvSpPr>
          <p:cNvPr id="9" name="Rounded Rectangle 8"/>
          <p:cNvSpPr/>
          <p:nvPr/>
        </p:nvSpPr>
        <p:spPr>
          <a:xfrm>
            <a:off x="6263640" y="1737360"/>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8366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Why not use the Tobii SDK directly?</a:t>
            </a:r>
          </a:p>
          <a:p>
            <a:pPr algn="l">
              <a:lnSpc>
                <a:spcPct val="100000"/>
              </a:lnSpc>
              <a:spcAft>
                <a:spcPts val="300"/>
              </a:spcAft>
            </a:pPr>
            <a:r>
              <a:rPr sz="1400" b="0">
                <a:solidFill>
                  <a:srgbClr val="52514E"/>
                </a:solidFill>
                <a:latin typeface="Calibri"/>
              </a:rPr>
              <a:t>Consumer Tobii devices block raw-data access without a licence. A Tobii Pro device or SDK licence would give 60+ Hz and pupil size (Experiment 4).</a:t>
            </a:r>
          </a:p>
        </p:txBody>
      </p:sp>
      <p:sp>
        <p:nvSpPr>
          <p:cNvPr id="11" name="Rounded Rectangle 10"/>
          <p:cNvSpPr/>
          <p:nvPr/>
        </p:nvSpPr>
        <p:spPr>
          <a:xfrm>
            <a:off x="640080" y="3977639"/>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12394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How do you know your fixes didn't break anything?</a:t>
            </a:r>
          </a:p>
          <a:p>
            <a:pPr algn="l">
              <a:lnSpc>
                <a:spcPct val="100000"/>
              </a:lnSpc>
              <a:spcAft>
                <a:spcPts val="300"/>
              </a:spcAft>
            </a:pPr>
            <a:r>
              <a:rPr sz="1400" b="0">
                <a:solidFill>
                  <a:srgbClr val="52514E"/>
                </a:solidFill>
                <a:latin typeface="Calibri"/>
              </a:rPr>
              <a:t>The rewrite reproduces 99.1% of the original fixations, live and offline processing match exactly, and all results were re-run after every fix.</a:t>
            </a:r>
          </a:p>
        </p:txBody>
      </p:sp>
      <p:sp>
        <p:nvSpPr>
          <p:cNvPr id="13" name="Rounded Rectangle 12"/>
          <p:cNvSpPr/>
          <p:nvPr/>
        </p:nvSpPr>
        <p:spPr>
          <a:xfrm>
            <a:off x="6263640" y="3977639"/>
            <a:ext cx="5394960" cy="2057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23944"/>
            <a:ext cx="5029200" cy="1783080"/>
          </a:xfrm>
          <a:prstGeom prst="rect">
            <a:avLst/>
          </a:prstGeom>
          <a:noFill/>
        </p:spPr>
        <p:txBody>
          <a:bodyPr wrap="square" lIns="0" rIns="0" tIns="0" bIns="0" anchor="t">
            <a:spAutoFit/>
          </a:bodyPr>
          <a:lstStyle/>
          <a:p>
            <a:pPr algn="l">
              <a:lnSpc>
                <a:spcPct val="100000"/>
              </a:lnSpc>
              <a:spcAft>
                <a:spcPts val="400"/>
              </a:spcAft>
            </a:pPr>
            <a:r>
              <a:rPr sz="1600" b="1">
                <a:solidFill>
                  <a:srgbClr val="0B0B0B"/>
                </a:solidFill>
                <a:latin typeface="Calibri"/>
              </a:rPr>
              <a:t>What does PR-AUC 0.29 mean?</a:t>
            </a:r>
          </a:p>
          <a:p>
            <a:pPr algn="l">
              <a:lnSpc>
                <a:spcPct val="100000"/>
              </a:lnSpc>
              <a:spcAft>
                <a:spcPts val="300"/>
              </a:spcAft>
            </a:pPr>
            <a:r>
              <a:rPr sz="1400" b="0">
                <a:solidFill>
                  <a:srgbClr val="52514E"/>
                </a:solidFill>
                <a:latin typeface="Calibri"/>
              </a:rPr>
              <a:t>Only 7% of windows are confused, so a random guess scores 0.07. 0.29 means confused windows are found about 4× better than chance.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515600" cy="320040"/>
          </a:xfrm>
          <a:prstGeom prst="rect">
            <a:avLst/>
          </a:prstGeom>
          <a:noFill/>
        </p:spPr>
        <p:txBody>
          <a:bodyPr wrap="square" lIns="0" rIns="0" tIns="0" bIns="0" anchor="t">
            <a:spAutoFit/>
          </a:bodyPr>
          <a:lstStyle/>
          <a:p>
            <a:pPr algn="l">
              <a:lnSpc>
                <a:spcPct val="100000"/>
              </a:lnSpc>
              <a:spcAft>
                <a:spcPts val="600"/>
              </a:spcAft>
            </a:pPr>
            <a:r>
              <a:rPr sz="1200" b="1">
                <a:solidFill>
                  <a:srgbClr val="2A78D6"/>
                </a:solidFill>
                <a:latin typeface="Calibri"/>
              </a:rPr>
              <a:t>APPENDIX · REFERENCE</a:t>
            </a:r>
          </a:p>
        </p:txBody>
      </p:sp>
      <p:sp>
        <p:nvSpPr>
          <p:cNvPr id="4" name="TextBox 3"/>
          <p:cNvSpPr txBox="1"/>
          <p:nvPr/>
        </p:nvSpPr>
        <p:spPr>
          <a:xfrm>
            <a:off x="640080" y="621792"/>
            <a:ext cx="10972800" cy="1051560"/>
          </a:xfrm>
          <a:prstGeom prst="rect">
            <a:avLst/>
          </a:prstGeom>
          <a:noFill/>
        </p:spPr>
        <p:txBody>
          <a:bodyPr wrap="square" lIns="0" rIns="0" tIns="0" bIns="0" anchor="t">
            <a:spAutoFit/>
          </a:bodyPr>
          <a:lstStyle/>
          <a:p>
            <a:pPr algn="l">
              <a:lnSpc>
                <a:spcPct val="100000"/>
              </a:lnSpc>
              <a:spcAft>
                <a:spcPts val="600"/>
              </a:spcAft>
            </a:pPr>
            <a:r>
              <a:rPr sz="2800" b="1">
                <a:solidFill>
                  <a:srgbClr val="0B0B0B"/>
                </a:solidFill>
                <a:latin typeface="Calibri"/>
              </a:rPr>
              <a:t>Where everything is (branch intern-work)</a:t>
            </a:r>
          </a:p>
        </p:txBody>
      </p:sp>
      <p:sp>
        <p:nvSpPr>
          <p:cNvPr id="5" name="TextBox 4"/>
          <p:cNvSpPr txBox="1"/>
          <p:nvPr/>
        </p:nvSpPr>
        <p:spPr>
          <a:xfrm>
            <a:off x="640080" y="6400800"/>
            <a:ext cx="8229600" cy="274320"/>
          </a:xfrm>
          <a:prstGeom prst="rect">
            <a:avLst/>
          </a:prstGeom>
          <a:noFill/>
        </p:spPr>
        <p:txBody>
          <a:bodyPr wrap="square" lIns="0" rIns="0" tIns="0" bIns="0" anchor="t">
            <a:spAutoFit/>
          </a:bodyPr>
          <a:lstStyle/>
          <a:p>
            <a:pPr algn="l">
              <a:lnSpc>
                <a:spcPct val="100000"/>
              </a:lnSpc>
              <a:spcAft>
                <a:spcPts val="600"/>
              </a:spcAft>
            </a:pPr>
            <a:r>
              <a:rPr sz="1000" b="0">
                <a:solidFill>
                  <a:srgbClr val="8A8984"/>
                </a:solidFill>
                <a:latin typeface="Calibri"/>
              </a:rPr>
              <a:t>Gaze-based confusion detection · progress report</a:t>
            </a:r>
          </a:p>
        </p:txBody>
      </p:sp>
      <p:sp>
        <p:nvSpPr>
          <p:cNvPr id="6" name="TextBox 5"/>
          <p:cNvSpPr txBox="1"/>
          <p:nvPr/>
        </p:nvSpPr>
        <p:spPr>
          <a:xfrm>
            <a:off x="10972800" y="6400800"/>
            <a:ext cx="640080" cy="274320"/>
          </a:xfrm>
          <a:prstGeom prst="rect">
            <a:avLst/>
          </a:prstGeom>
          <a:noFill/>
        </p:spPr>
        <p:txBody>
          <a:bodyPr wrap="square" lIns="0" rIns="0" tIns="0" bIns="0" anchor="t">
            <a:spAutoFit/>
          </a:bodyPr>
          <a:lstStyle/>
          <a:p>
            <a:pPr algn="r">
              <a:lnSpc>
                <a:spcPct val="100000"/>
              </a:lnSpc>
              <a:spcAft>
                <a:spcPts val="600"/>
              </a:spcAft>
            </a:pPr>
            <a:r>
              <a:rPr sz="1000" b="0">
                <a:solidFill>
                  <a:srgbClr val="8A8984"/>
                </a:solidFill>
                <a:latin typeface="Calibri"/>
              </a:rPr>
              <a:t>21</a:t>
            </a:r>
          </a:p>
        </p:txBody>
      </p:sp>
      <p:sp>
        <p:nvSpPr>
          <p:cNvPr id="7" name="Rounded Rectangle 6"/>
          <p:cNvSpPr/>
          <p:nvPr/>
        </p:nvSpPr>
        <p:spPr>
          <a:xfrm>
            <a:off x="640080" y="1737360"/>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28800"/>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README.md §10.9</a:t>
            </a:r>
          </a:p>
          <a:p>
            <a:pPr algn="l">
              <a:lnSpc>
                <a:spcPct val="100000"/>
              </a:lnSpc>
              <a:spcAft>
                <a:spcPts val="600"/>
              </a:spcAft>
            </a:pPr>
            <a:r>
              <a:rPr sz="1300" b="0">
                <a:solidFill>
                  <a:srgbClr val="52514E"/>
                </a:solidFill>
                <a:latin typeface="Calibri"/>
              </a:rPr>
              <a:t>all findings, with status: fixed / open</a:t>
            </a:r>
          </a:p>
        </p:txBody>
      </p:sp>
      <p:sp>
        <p:nvSpPr>
          <p:cNvPr id="9" name="Rounded Rectangle 8"/>
          <p:cNvSpPr/>
          <p:nvPr/>
        </p:nvSpPr>
        <p:spPr>
          <a:xfrm>
            <a:off x="6263640" y="1737360"/>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gaze_core.py</a:t>
            </a:r>
          </a:p>
          <a:p>
            <a:pPr algn="l">
              <a:lnSpc>
                <a:spcPct val="100000"/>
              </a:lnSpc>
              <a:spcAft>
                <a:spcPts val="600"/>
              </a:spcAft>
            </a:pPr>
            <a:r>
              <a:rPr sz="1300" b="0">
                <a:solidFill>
                  <a:srgbClr val="52514E"/>
                </a:solidFill>
                <a:latin typeface="Calibri"/>
              </a:rPr>
              <a:t>shared fixation code with the three fixes</a:t>
            </a:r>
          </a:p>
        </p:txBody>
      </p:sp>
      <p:sp>
        <p:nvSpPr>
          <p:cNvPr id="11" name="Rounded Rectangle 10"/>
          <p:cNvSpPr/>
          <p:nvPr/>
        </p:nvSpPr>
        <p:spPr>
          <a:xfrm>
            <a:off x="640080" y="2606039"/>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697479"/>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validate_gaze_core.py</a:t>
            </a:r>
          </a:p>
          <a:p>
            <a:pPr algn="l">
              <a:lnSpc>
                <a:spcPct val="100000"/>
              </a:lnSpc>
              <a:spcAft>
                <a:spcPts val="600"/>
              </a:spcAft>
            </a:pPr>
            <a:r>
              <a:rPr sz="1300" b="0">
                <a:solidFill>
                  <a:srgbClr val="52514E"/>
                </a:solidFill>
                <a:latin typeface="Calibri"/>
              </a:rPr>
              <a:t>check: rewrite reproduces 99.1% of the original</a:t>
            </a:r>
          </a:p>
        </p:txBody>
      </p:sp>
      <p:sp>
        <p:nvSpPr>
          <p:cNvPr id="13" name="Rounded Rectangle 12"/>
          <p:cNvSpPr/>
          <p:nvPr/>
        </p:nvSpPr>
        <p:spPr>
          <a:xfrm>
            <a:off x="6263640" y="2606039"/>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697479"/>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rebuild_fixations.py</a:t>
            </a:r>
          </a:p>
          <a:p>
            <a:pPr algn="l">
              <a:lnSpc>
                <a:spcPct val="100000"/>
              </a:lnSpc>
              <a:spcAft>
                <a:spcPts val="600"/>
              </a:spcAft>
            </a:pPr>
            <a:r>
              <a:rPr sz="1300" b="0">
                <a:solidFill>
                  <a:srgbClr val="52514E"/>
                </a:solidFill>
                <a:latin typeface="Calibri"/>
              </a:rPr>
              <a:t>corrected fixations, one file per session</a:t>
            </a:r>
          </a:p>
        </p:txBody>
      </p:sp>
      <p:sp>
        <p:nvSpPr>
          <p:cNvPr id="15" name="Rounded Rectangle 14"/>
          <p:cNvSpPr/>
          <p:nvPr/>
        </p:nvSpPr>
        <p:spPr>
          <a:xfrm>
            <a:off x="640080" y="3474720"/>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566160"/>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label.py</a:t>
            </a:r>
          </a:p>
          <a:p>
            <a:pPr algn="l">
              <a:lnSpc>
                <a:spcPct val="100000"/>
              </a:lnSpc>
              <a:spcAft>
                <a:spcPts val="600"/>
              </a:spcAft>
            </a:pPr>
            <a:r>
              <a:rPr sz="1300" b="0">
                <a:solidFill>
                  <a:srgbClr val="52514E"/>
                </a:solidFill>
                <a:latin typeface="Calibri"/>
              </a:rPr>
              <a:t>Experiment 1 — labels by time window</a:t>
            </a:r>
          </a:p>
        </p:txBody>
      </p:sp>
      <p:sp>
        <p:nvSpPr>
          <p:cNvPr id="17" name="Rounded Rectangle 16"/>
          <p:cNvSpPr/>
          <p:nvPr/>
        </p:nvSpPr>
        <p:spPr>
          <a:xfrm>
            <a:off x="6263640" y="3474720"/>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566160"/>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train.py</a:t>
            </a:r>
          </a:p>
          <a:p>
            <a:pPr algn="l">
              <a:lnSpc>
                <a:spcPct val="100000"/>
              </a:lnSpc>
              <a:spcAft>
                <a:spcPts val="600"/>
              </a:spcAft>
            </a:pPr>
            <a:r>
              <a:rPr sz="1300" b="0">
                <a:solidFill>
                  <a:srgbClr val="52514E"/>
                </a:solidFill>
                <a:latin typeface="Calibri"/>
              </a:rPr>
              <a:t>Experiment 2 — windows, features, leave-one-session-out</a:t>
            </a:r>
          </a:p>
        </p:txBody>
      </p:sp>
      <p:sp>
        <p:nvSpPr>
          <p:cNvPr id="19" name="Rounded Rectangle 18"/>
          <p:cNvSpPr/>
          <p:nvPr/>
        </p:nvSpPr>
        <p:spPr>
          <a:xfrm>
            <a:off x="640080" y="4343400"/>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434840"/>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processed/exp2_results.json</a:t>
            </a:r>
          </a:p>
          <a:p>
            <a:pPr algn="l">
              <a:lnSpc>
                <a:spcPct val="100000"/>
              </a:lnSpc>
              <a:spcAft>
                <a:spcPts val="600"/>
              </a:spcAft>
            </a:pPr>
            <a:r>
              <a:rPr sz="1300" b="0">
                <a:solidFill>
                  <a:srgbClr val="52514E"/>
                </a:solidFill>
                <a:latin typeface="Calibri"/>
              </a:rPr>
              <a:t>all Experiment 2 numbers</a:t>
            </a:r>
          </a:p>
        </p:txBody>
      </p:sp>
      <p:sp>
        <p:nvSpPr>
          <p:cNvPr id="21" name="Rounded Rectangle 20"/>
          <p:cNvSpPr/>
          <p:nvPr/>
        </p:nvSpPr>
        <p:spPr>
          <a:xfrm>
            <a:off x="6263640" y="4343400"/>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434840"/>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collect.py</a:t>
            </a:r>
          </a:p>
          <a:p>
            <a:pPr algn="l">
              <a:lnSpc>
                <a:spcPct val="100000"/>
              </a:lnSpc>
              <a:spcAft>
                <a:spcPts val="600"/>
              </a:spcAft>
            </a:pPr>
            <a:r>
              <a:rPr sz="1300" b="0">
                <a:solidFill>
                  <a:srgbClr val="52514E"/>
                </a:solidFill>
                <a:latin typeface="Calibri"/>
              </a:rPr>
              <a:t>new recording script (replaces cnn.py)</a:t>
            </a:r>
          </a:p>
        </p:txBody>
      </p:sp>
      <p:sp>
        <p:nvSpPr>
          <p:cNvPr id="23" name="Rounded Rectangle 22"/>
          <p:cNvSpPr/>
          <p:nvPr/>
        </p:nvSpPr>
        <p:spPr>
          <a:xfrm>
            <a:off x="640080" y="5212079"/>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5303519"/>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check_session.py</a:t>
            </a:r>
          </a:p>
          <a:p>
            <a:pPr algn="l">
              <a:lnSpc>
                <a:spcPct val="100000"/>
              </a:lnSpc>
              <a:spcAft>
                <a:spcPts val="600"/>
              </a:spcAft>
            </a:pPr>
            <a:r>
              <a:rPr sz="1300" b="0">
                <a:solidFill>
                  <a:srgbClr val="52514E"/>
                </a:solidFill>
                <a:latin typeface="Calibri"/>
              </a:rPr>
              <a:t>quality check after each recording</a:t>
            </a:r>
          </a:p>
        </p:txBody>
      </p:sp>
      <p:sp>
        <p:nvSpPr>
          <p:cNvPr id="25" name="Rounded Rectangle 24"/>
          <p:cNvSpPr/>
          <p:nvPr/>
        </p:nvSpPr>
        <p:spPr>
          <a:xfrm>
            <a:off x="6263640" y="5212079"/>
            <a:ext cx="5394960" cy="749808"/>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5303519"/>
            <a:ext cx="5029200" cy="594360"/>
          </a:xfrm>
          <a:prstGeom prst="rect">
            <a:avLst/>
          </a:prstGeom>
          <a:noFill/>
        </p:spPr>
        <p:txBody>
          <a:bodyPr wrap="square" lIns="0" rIns="0" tIns="0" bIns="0" anchor="t">
            <a:spAutoFit/>
          </a:bodyPr>
          <a:lstStyle/>
          <a:p>
            <a:pPr algn="l">
              <a:lnSpc>
                <a:spcPct val="100000"/>
              </a:lnSpc>
              <a:spcAft>
                <a:spcPts val="0"/>
              </a:spcAft>
            </a:pPr>
            <a:r>
              <a:rPr sz="1500" b="1">
                <a:solidFill>
                  <a:srgbClr val="0B0B0B"/>
                </a:solidFill>
                <a:latin typeface="Calibri"/>
              </a:rPr>
              <a:t>PROTOCOL.md</a:t>
            </a:r>
          </a:p>
          <a:p>
            <a:pPr algn="l">
              <a:lnSpc>
                <a:spcPct val="100000"/>
              </a:lnSpc>
              <a:spcAft>
                <a:spcPts val="600"/>
              </a:spcAft>
            </a:pPr>
            <a:r>
              <a:rPr sz="1300" b="0">
                <a:solidFill>
                  <a:srgbClr val="52514E"/>
                </a:solidFill>
                <a:latin typeface="Calibri"/>
              </a:rPr>
              <a:t>procedure for Experiment 3 sessions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